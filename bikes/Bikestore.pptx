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7"/>
  </p:notesMasterIdLst>
  <p:sldIdLst>
    <p:sldId id="256" r:id="rId2"/>
    <p:sldId id="272" r:id="rId3"/>
    <p:sldId id="286" r:id="rId4"/>
    <p:sldId id="257" r:id="rId5"/>
    <p:sldId id="273" r:id="rId6"/>
    <p:sldId id="278" r:id="rId7"/>
    <p:sldId id="287" r:id="rId8"/>
    <p:sldId id="276" r:id="rId9"/>
    <p:sldId id="274" r:id="rId10"/>
    <p:sldId id="282" r:id="rId11"/>
    <p:sldId id="275" r:id="rId12"/>
    <p:sldId id="284" r:id="rId13"/>
    <p:sldId id="285" r:id="rId14"/>
    <p:sldId id="288" r:id="rId15"/>
    <p:sldId id="28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1" d="100"/>
          <a:sy n="51" d="100"/>
        </p:scale>
        <p:origin x="1256"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D9F6B2-6C9D-4DE5-A717-52F8E80F7C38}" type="doc">
      <dgm:prSet loTypeId="urn:microsoft.com/office/officeart/2005/8/layout/cycle3" loCatId="cycle" qsTypeId="urn:microsoft.com/office/officeart/2005/8/quickstyle/simple1" qsCatId="simple" csTypeId="urn:microsoft.com/office/officeart/2005/8/colors/colorful1" csCatId="colorful" phldr="1"/>
      <dgm:spPr/>
      <dgm:t>
        <a:bodyPr/>
        <a:lstStyle/>
        <a:p>
          <a:endParaRPr lang="en-US"/>
        </a:p>
      </dgm:t>
    </dgm:pt>
    <dgm:pt modelId="{BA104723-C8BE-4405-B06F-E4F4E75D0CE1}">
      <dgm:prSet phldrT="[Text]"/>
      <dgm:spPr/>
      <dgm:t>
        <a:bodyPr/>
        <a:lstStyle/>
        <a:p>
          <a:r>
            <a:rPr lang="es-CR" dirty="0"/>
            <a:t>1</a:t>
          </a:r>
          <a:r>
            <a:rPr lang="en-US" dirty="0"/>
            <a:t>-Business Understanding</a:t>
          </a:r>
        </a:p>
      </dgm:t>
    </dgm:pt>
    <dgm:pt modelId="{3EC64FE3-96A2-4AA9-B5AA-BACC5B854525}" type="parTrans" cxnId="{E9A3542C-D331-412D-9D44-1F0B00C5DA7F}">
      <dgm:prSet/>
      <dgm:spPr/>
      <dgm:t>
        <a:bodyPr/>
        <a:lstStyle/>
        <a:p>
          <a:endParaRPr lang="en-US"/>
        </a:p>
      </dgm:t>
    </dgm:pt>
    <dgm:pt modelId="{ED636C1E-5AD1-4D17-A726-D3DBEF657AE3}" type="sibTrans" cxnId="{E9A3542C-D331-412D-9D44-1F0B00C5DA7F}">
      <dgm:prSet/>
      <dgm:spPr/>
      <dgm:t>
        <a:bodyPr/>
        <a:lstStyle/>
        <a:p>
          <a:endParaRPr lang="en-US"/>
        </a:p>
      </dgm:t>
    </dgm:pt>
    <dgm:pt modelId="{7BD0E541-86B6-4992-A9D2-84DAC45B1297}">
      <dgm:prSet phldrT="[Text]"/>
      <dgm:spPr/>
      <dgm:t>
        <a:bodyPr/>
        <a:lstStyle/>
        <a:p>
          <a:r>
            <a:rPr lang="en-US" dirty="0"/>
            <a:t>2- Data Understanding</a:t>
          </a:r>
        </a:p>
      </dgm:t>
    </dgm:pt>
    <dgm:pt modelId="{0DBF5457-E078-4352-8D6E-901D1FF76FA0}" type="parTrans" cxnId="{EC69CE64-D7FF-4215-86ED-C6EDFB21402C}">
      <dgm:prSet/>
      <dgm:spPr/>
      <dgm:t>
        <a:bodyPr/>
        <a:lstStyle/>
        <a:p>
          <a:endParaRPr lang="en-US"/>
        </a:p>
      </dgm:t>
    </dgm:pt>
    <dgm:pt modelId="{4DAE1A58-7C8C-47A8-BEBE-C83BF7BE6840}" type="sibTrans" cxnId="{EC69CE64-D7FF-4215-86ED-C6EDFB21402C}">
      <dgm:prSet/>
      <dgm:spPr/>
      <dgm:t>
        <a:bodyPr/>
        <a:lstStyle/>
        <a:p>
          <a:endParaRPr lang="en-US"/>
        </a:p>
      </dgm:t>
    </dgm:pt>
    <dgm:pt modelId="{603667FF-06F1-4651-BABB-255DBCE70BDB}">
      <dgm:prSet phldrT="[Text]"/>
      <dgm:spPr/>
      <dgm:t>
        <a:bodyPr/>
        <a:lstStyle/>
        <a:p>
          <a:r>
            <a:rPr lang="en-US" dirty="0"/>
            <a:t>4- Modeling</a:t>
          </a:r>
        </a:p>
      </dgm:t>
    </dgm:pt>
    <dgm:pt modelId="{2F724709-AFB3-4471-AB00-0BA070DDC09F}" type="parTrans" cxnId="{196A8F2F-1E02-42E4-BEFD-D36DAF4322CC}">
      <dgm:prSet/>
      <dgm:spPr/>
      <dgm:t>
        <a:bodyPr/>
        <a:lstStyle/>
        <a:p>
          <a:endParaRPr lang="en-US"/>
        </a:p>
      </dgm:t>
    </dgm:pt>
    <dgm:pt modelId="{47C9EDD5-3958-4E73-BDCF-A25B40C216EB}" type="sibTrans" cxnId="{196A8F2F-1E02-42E4-BEFD-D36DAF4322CC}">
      <dgm:prSet/>
      <dgm:spPr/>
      <dgm:t>
        <a:bodyPr/>
        <a:lstStyle/>
        <a:p>
          <a:endParaRPr lang="en-US"/>
        </a:p>
      </dgm:t>
    </dgm:pt>
    <dgm:pt modelId="{6F26E84E-9384-4762-876B-206B68083736}">
      <dgm:prSet phldrT="[Text]"/>
      <dgm:spPr/>
      <dgm:t>
        <a:bodyPr/>
        <a:lstStyle/>
        <a:p>
          <a:r>
            <a:rPr lang="en-US" dirty="0"/>
            <a:t>5- Evaluation </a:t>
          </a:r>
        </a:p>
      </dgm:t>
    </dgm:pt>
    <dgm:pt modelId="{AEA0C9EB-3A55-42A6-BAC1-99040C34BA07}" type="parTrans" cxnId="{A4D2421C-E4FC-4D06-B832-0966A0F17735}">
      <dgm:prSet/>
      <dgm:spPr/>
      <dgm:t>
        <a:bodyPr/>
        <a:lstStyle/>
        <a:p>
          <a:endParaRPr lang="en-US"/>
        </a:p>
      </dgm:t>
    </dgm:pt>
    <dgm:pt modelId="{3FC33B19-E422-4D82-A2A5-3A93ECD73DF3}" type="sibTrans" cxnId="{A4D2421C-E4FC-4D06-B832-0966A0F17735}">
      <dgm:prSet/>
      <dgm:spPr/>
      <dgm:t>
        <a:bodyPr/>
        <a:lstStyle/>
        <a:p>
          <a:endParaRPr lang="en-US"/>
        </a:p>
      </dgm:t>
    </dgm:pt>
    <dgm:pt modelId="{E5AD4AA8-6034-42F9-A50E-9E3B1809F0D1}">
      <dgm:prSet phldrT="[Text]"/>
      <dgm:spPr/>
      <dgm:t>
        <a:bodyPr/>
        <a:lstStyle/>
        <a:p>
          <a:r>
            <a:rPr lang="en-US" dirty="0"/>
            <a:t>3- Data Preparation </a:t>
          </a:r>
        </a:p>
      </dgm:t>
    </dgm:pt>
    <dgm:pt modelId="{60917C2D-FE10-4435-8577-287AA70F698E}" type="sibTrans" cxnId="{4B645891-AB93-468C-94E8-38FAEB3BC17D}">
      <dgm:prSet/>
      <dgm:spPr/>
      <dgm:t>
        <a:bodyPr/>
        <a:lstStyle/>
        <a:p>
          <a:endParaRPr lang="en-US"/>
        </a:p>
      </dgm:t>
    </dgm:pt>
    <dgm:pt modelId="{A76E3567-7053-4751-B823-CEBD7CEFC200}" type="parTrans" cxnId="{4B645891-AB93-468C-94E8-38FAEB3BC17D}">
      <dgm:prSet/>
      <dgm:spPr/>
      <dgm:t>
        <a:bodyPr/>
        <a:lstStyle/>
        <a:p>
          <a:endParaRPr lang="en-US"/>
        </a:p>
      </dgm:t>
    </dgm:pt>
    <dgm:pt modelId="{CF3CCFD3-5075-4867-A34E-6BD0F7D06394}">
      <dgm:prSet/>
      <dgm:spPr/>
      <dgm:t>
        <a:bodyPr/>
        <a:lstStyle/>
        <a:p>
          <a:r>
            <a:rPr lang="en-US" dirty="0"/>
            <a:t>6-Deployment</a:t>
          </a:r>
        </a:p>
      </dgm:t>
    </dgm:pt>
    <dgm:pt modelId="{4364A13B-5180-4E73-8E5B-9B56293E73AF}" type="parTrans" cxnId="{2D95E1D1-9AA1-437D-A7E0-4D904EAB2BEB}">
      <dgm:prSet/>
      <dgm:spPr/>
      <dgm:t>
        <a:bodyPr/>
        <a:lstStyle/>
        <a:p>
          <a:endParaRPr lang="en-US"/>
        </a:p>
      </dgm:t>
    </dgm:pt>
    <dgm:pt modelId="{1ED1C923-EAB5-4842-83FE-05076B24B498}" type="sibTrans" cxnId="{2D95E1D1-9AA1-437D-A7E0-4D904EAB2BEB}">
      <dgm:prSet/>
      <dgm:spPr/>
      <dgm:t>
        <a:bodyPr/>
        <a:lstStyle/>
        <a:p>
          <a:endParaRPr lang="en-US"/>
        </a:p>
      </dgm:t>
    </dgm:pt>
    <dgm:pt modelId="{053D45B9-EB19-4DD6-9B89-F1014F2FB747}" type="pres">
      <dgm:prSet presAssocID="{33D9F6B2-6C9D-4DE5-A717-52F8E80F7C38}" presName="Name0" presStyleCnt="0">
        <dgm:presLayoutVars>
          <dgm:dir/>
          <dgm:resizeHandles val="exact"/>
        </dgm:presLayoutVars>
      </dgm:prSet>
      <dgm:spPr/>
    </dgm:pt>
    <dgm:pt modelId="{1399D9D0-F818-4F8F-A851-8DC0ECE1B8C3}" type="pres">
      <dgm:prSet presAssocID="{33D9F6B2-6C9D-4DE5-A717-52F8E80F7C38}" presName="cycle" presStyleCnt="0"/>
      <dgm:spPr/>
    </dgm:pt>
    <dgm:pt modelId="{FE5F3D3A-9F7F-4D35-B763-4C97D9417873}" type="pres">
      <dgm:prSet presAssocID="{BA104723-C8BE-4405-B06F-E4F4E75D0CE1}" presName="nodeFirstNode" presStyleLbl="node1" presStyleIdx="0" presStyleCnt="6">
        <dgm:presLayoutVars>
          <dgm:bulletEnabled val="1"/>
        </dgm:presLayoutVars>
      </dgm:prSet>
      <dgm:spPr/>
    </dgm:pt>
    <dgm:pt modelId="{FFAFB7F2-8145-4DFE-9A22-2C63B78CC4AB}" type="pres">
      <dgm:prSet presAssocID="{ED636C1E-5AD1-4D17-A726-D3DBEF657AE3}" presName="sibTransFirstNode" presStyleLbl="bgShp" presStyleIdx="0" presStyleCnt="1"/>
      <dgm:spPr/>
    </dgm:pt>
    <dgm:pt modelId="{70CED6F8-57A4-42E4-AB1D-AD2DF3D807C6}" type="pres">
      <dgm:prSet presAssocID="{7BD0E541-86B6-4992-A9D2-84DAC45B1297}" presName="nodeFollowingNodes" presStyleLbl="node1" presStyleIdx="1" presStyleCnt="6">
        <dgm:presLayoutVars>
          <dgm:bulletEnabled val="1"/>
        </dgm:presLayoutVars>
      </dgm:prSet>
      <dgm:spPr/>
    </dgm:pt>
    <dgm:pt modelId="{F175B319-A701-48A8-A4E4-C57368A41759}" type="pres">
      <dgm:prSet presAssocID="{E5AD4AA8-6034-42F9-A50E-9E3B1809F0D1}" presName="nodeFollowingNodes" presStyleLbl="node1" presStyleIdx="2" presStyleCnt="6">
        <dgm:presLayoutVars>
          <dgm:bulletEnabled val="1"/>
        </dgm:presLayoutVars>
      </dgm:prSet>
      <dgm:spPr/>
    </dgm:pt>
    <dgm:pt modelId="{9FDEC665-C2AA-4616-A8B1-D5C8A4139A46}" type="pres">
      <dgm:prSet presAssocID="{603667FF-06F1-4651-BABB-255DBCE70BDB}" presName="nodeFollowingNodes" presStyleLbl="node1" presStyleIdx="3" presStyleCnt="6">
        <dgm:presLayoutVars>
          <dgm:bulletEnabled val="1"/>
        </dgm:presLayoutVars>
      </dgm:prSet>
      <dgm:spPr/>
    </dgm:pt>
    <dgm:pt modelId="{3255330B-598C-4795-BC07-593FCD6B35AA}" type="pres">
      <dgm:prSet presAssocID="{6F26E84E-9384-4762-876B-206B68083736}" presName="nodeFollowingNodes" presStyleLbl="node1" presStyleIdx="4" presStyleCnt="6">
        <dgm:presLayoutVars>
          <dgm:bulletEnabled val="1"/>
        </dgm:presLayoutVars>
      </dgm:prSet>
      <dgm:spPr/>
    </dgm:pt>
    <dgm:pt modelId="{DD4C9D6F-443C-4490-933B-EC6D18A6F158}" type="pres">
      <dgm:prSet presAssocID="{CF3CCFD3-5075-4867-A34E-6BD0F7D06394}" presName="nodeFollowingNodes" presStyleLbl="node1" presStyleIdx="5" presStyleCnt="6">
        <dgm:presLayoutVars>
          <dgm:bulletEnabled val="1"/>
        </dgm:presLayoutVars>
      </dgm:prSet>
      <dgm:spPr/>
    </dgm:pt>
  </dgm:ptLst>
  <dgm:cxnLst>
    <dgm:cxn modelId="{B4174B17-0CB5-4CEB-9A4C-9F43E2B30906}" type="presOf" srcId="{BA104723-C8BE-4405-B06F-E4F4E75D0CE1}" destId="{FE5F3D3A-9F7F-4D35-B763-4C97D9417873}" srcOrd="0" destOrd="0" presId="urn:microsoft.com/office/officeart/2005/8/layout/cycle3"/>
    <dgm:cxn modelId="{A4D2421C-E4FC-4D06-B832-0966A0F17735}" srcId="{33D9F6B2-6C9D-4DE5-A717-52F8E80F7C38}" destId="{6F26E84E-9384-4762-876B-206B68083736}" srcOrd="4" destOrd="0" parTransId="{AEA0C9EB-3A55-42A6-BAC1-99040C34BA07}" sibTransId="{3FC33B19-E422-4D82-A2A5-3A93ECD73DF3}"/>
    <dgm:cxn modelId="{6847861C-DB6C-4F04-9CB5-9BDBF605D02C}" type="presOf" srcId="{603667FF-06F1-4651-BABB-255DBCE70BDB}" destId="{9FDEC665-C2AA-4616-A8B1-D5C8A4139A46}" srcOrd="0" destOrd="0" presId="urn:microsoft.com/office/officeart/2005/8/layout/cycle3"/>
    <dgm:cxn modelId="{E9A3542C-D331-412D-9D44-1F0B00C5DA7F}" srcId="{33D9F6B2-6C9D-4DE5-A717-52F8E80F7C38}" destId="{BA104723-C8BE-4405-B06F-E4F4E75D0CE1}" srcOrd="0" destOrd="0" parTransId="{3EC64FE3-96A2-4AA9-B5AA-BACC5B854525}" sibTransId="{ED636C1E-5AD1-4D17-A726-D3DBEF657AE3}"/>
    <dgm:cxn modelId="{196A8F2F-1E02-42E4-BEFD-D36DAF4322CC}" srcId="{33D9F6B2-6C9D-4DE5-A717-52F8E80F7C38}" destId="{603667FF-06F1-4651-BABB-255DBCE70BDB}" srcOrd="3" destOrd="0" parTransId="{2F724709-AFB3-4471-AB00-0BA070DDC09F}" sibTransId="{47C9EDD5-3958-4E73-BDCF-A25B40C216EB}"/>
    <dgm:cxn modelId="{EE5A4640-5F7C-49EE-A3C2-6EA2400E3C5E}" type="presOf" srcId="{6F26E84E-9384-4762-876B-206B68083736}" destId="{3255330B-598C-4795-BC07-593FCD6B35AA}" srcOrd="0" destOrd="0" presId="urn:microsoft.com/office/officeart/2005/8/layout/cycle3"/>
    <dgm:cxn modelId="{2CDC0F5C-4EE7-457E-9908-72FB6C80CF08}" type="presOf" srcId="{7BD0E541-86B6-4992-A9D2-84DAC45B1297}" destId="{70CED6F8-57A4-42E4-AB1D-AD2DF3D807C6}" srcOrd="0" destOrd="0" presId="urn:microsoft.com/office/officeart/2005/8/layout/cycle3"/>
    <dgm:cxn modelId="{EC69CE64-D7FF-4215-86ED-C6EDFB21402C}" srcId="{33D9F6B2-6C9D-4DE5-A717-52F8E80F7C38}" destId="{7BD0E541-86B6-4992-A9D2-84DAC45B1297}" srcOrd="1" destOrd="0" parTransId="{0DBF5457-E078-4352-8D6E-901D1FF76FA0}" sibTransId="{4DAE1A58-7C8C-47A8-BEBE-C83BF7BE6840}"/>
    <dgm:cxn modelId="{4B645891-AB93-468C-94E8-38FAEB3BC17D}" srcId="{33D9F6B2-6C9D-4DE5-A717-52F8E80F7C38}" destId="{E5AD4AA8-6034-42F9-A50E-9E3B1809F0D1}" srcOrd="2" destOrd="0" parTransId="{A76E3567-7053-4751-B823-CEBD7CEFC200}" sibTransId="{60917C2D-FE10-4435-8577-287AA70F698E}"/>
    <dgm:cxn modelId="{C206FA94-E561-429C-9586-3CBF4B0E32D5}" type="presOf" srcId="{ED636C1E-5AD1-4D17-A726-D3DBEF657AE3}" destId="{FFAFB7F2-8145-4DFE-9A22-2C63B78CC4AB}" srcOrd="0" destOrd="0" presId="urn:microsoft.com/office/officeart/2005/8/layout/cycle3"/>
    <dgm:cxn modelId="{2CD7AFA8-77B4-467F-981A-111DB31082D3}" type="presOf" srcId="{E5AD4AA8-6034-42F9-A50E-9E3B1809F0D1}" destId="{F175B319-A701-48A8-A4E4-C57368A41759}" srcOrd="0" destOrd="0" presId="urn:microsoft.com/office/officeart/2005/8/layout/cycle3"/>
    <dgm:cxn modelId="{29296BB3-0096-4567-9E1D-9441D98F381D}" type="presOf" srcId="{CF3CCFD3-5075-4867-A34E-6BD0F7D06394}" destId="{DD4C9D6F-443C-4490-933B-EC6D18A6F158}" srcOrd="0" destOrd="0" presId="urn:microsoft.com/office/officeart/2005/8/layout/cycle3"/>
    <dgm:cxn modelId="{BCE913C9-6C99-4286-BD01-F7F8DEAB9327}" type="presOf" srcId="{33D9F6B2-6C9D-4DE5-A717-52F8E80F7C38}" destId="{053D45B9-EB19-4DD6-9B89-F1014F2FB747}" srcOrd="0" destOrd="0" presId="urn:microsoft.com/office/officeart/2005/8/layout/cycle3"/>
    <dgm:cxn modelId="{2D95E1D1-9AA1-437D-A7E0-4D904EAB2BEB}" srcId="{33D9F6B2-6C9D-4DE5-A717-52F8E80F7C38}" destId="{CF3CCFD3-5075-4867-A34E-6BD0F7D06394}" srcOrd="5" destOrd="0" parTransId="{4364A13B-5180-4E73-8E5B-9B56293E73AF}" sibTransId="{1ED1C923-EAB5-4842-83FE-05076B24B498}"/>
    <dgm:cxn modelId="{ACA30A2A-6531-4E73-B936-05262339C6A8}" type="presParOf" srcId="{053D45B9-EB19-4DD6-9B89-F1014F2FB747}" destId="{1399D9D0-F818-4F8F-A851-8DC0ECE1B8C3}" srcOrd="0" destOrd="0" presId="urn:microsoft.com/office/officeart/2005/8/layout/cycle3"/>
    <dgm:cxn modelId="{B915599C-EEA7-4159-B773-3197EC6E8C7C}" type="presParOf" srcId="{1399D9D0-F818-4F8F-A851-8DC0ECE1B8C3}" destId="{FE5F3D3A-9F7F-4D35-B763-4C97D9417873}" srcOrd="0" destOrd="0" presId="urn:microsoft.com/office/officeart/2005/8/layout/cycle3"/>
    <dgm:cxn modelId="{F0E136F9-C03C-4A3F-BD54-137682048E6F}" type="presParOf" srcId="{1399D9D0-F818-4F8F-A851-8DC0ECE1B8C3}" destId="{FFAFB7F2-8145-4DFE-9A22-2C63B78CC4AB}" srcOrd="1" destOrd="0" presId="urn:microsoft.com/office/officeart/2005/8/layout/cycle3"/>
    <dgm:cxn modelId="{27F51138-136B-4914-AEE3-644DE0ACADB1}" type="presParOf" srcId="{1399D9D0-F818-4F8F-A851-8DC0ECE1B8C3}" destId="{70CED6F8-57A4-42E4-AB1D-AD2DF3D807C6}" srcOrd="2" destOrd="0" presId="urn:microsoft.com/office/officeart/2005/8/layout/cycle3"/>
    <dgm:cxn modelId="{E0CD9077-EDA5-4F68-B62B-274C27BDF47D}" type="presParOf" srcId="{1399D9D0-F818-4F8F-A851-8DC0ECE1B8C3}" destId="{F175B319-A701-48A8-A4E4-C57368A41759}" srcOrd="3" destOrd="0" presId="urn:microsoft.com/office/officeart/2005/8/layout/cycle3"/>
    <dgm:cxn modelId="{218FD85D-E219-4E83-B362-AE282F4711F9}" type="presParOf" srcId="{1399D9D0-F818-4F8F-A851-8DC0ECE1B8C3}" destId="{9FDEC665-C2AA-4616-A8B1-D5C8A4139A46}" srcOrd="4" destOrd="0" presId="urn:microsoft.com/office/officeart/2005/8/layout/cycle3"/>
    <dgm:cxn modelId="{829EC22D-DD0B-408E-90D7-D051920D2007}" type="presParOf" srcId="{1399D9D0-F818-4F8F-A851-8DC0ECE1B8C3}" destId="{3255330B-598C-4795-BC07-593FCD6B35AA}" srcOrd="5" destOrd="0" presId="urn:microsoft.com/office/officeart/2005/8/layout/cycle3"/>
    <dgm:cxn modelId="{C082D522-4919-4CD5-AF2E-950C8CAC8C16}" type="presParOf" srcId="{1399D9D0-F818-4F8F-A851-8DC0ECE1B8C3}" destId="{DD4C9D6F-443C-4490-933B-EC6D18A6F158}" srcOrd="6"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C4BCE5-B969-4BD1-841F-8DB091FDF6FC}" type="doc">
      <dgm:prSet loTypeId="urn:microsoft.com/office/officeart/2005/8/layout/hProcess7" loCatId="process" qsTypeId="urn:microsoft.com/office/officeart/2005/8/quickstyle/simple1" qsCatId="simple" csTypeId="urn:microsoft.com/office/officeart/2005/8/colors/accent1_2" csCatId="accent1" phldr="1"/>
      <dgm:spPr/>
      <dgm:t>
        <a:bodyPr/>
        <a:lstStyle/>
        <a:p>
          <a:endParaRPr lang="en-US"/>
        </a:p>
      </dgm:t>
    </dgm:pt>
    <dgm:pt modelId="{23F1B00D-88CC-48DA-953F-BC5B285473AE}">
      <dgm:prSet phldrT="[Text]"/>
      <dgm:spPr/>
      <dgm:t>
        <a:bodyPr/>
        <a:lstStyle/>
        <a:p>
          <a:r>
            <a:rPr lang="es-CR" dirty="0" err="1"/>
            <a:t>Objective</a:t>
          </a:r>
          <a:endParaRPr lang="en-US" dirty="0"/>
        </a:p>
      </dgm:t>
    </dgm:pt>
    <dgm:pt modelId="{56BDCBB5-F47F-4066-87E5-4F644D8F3527}" type="parTrans" cxnId="{E85917C3-ED44-425D-950F-D6A8B298D6A0}">
      <dgm:prSet/>
      <dgm:spPr/>
      <dgm:t>
        <a:bodyPr/>
        <a:lstStyle/>
        <a:p>
          <a:endParaRPr lang="en-US"/>
        </a:p>
      </dgm:t>
    </dgm:pt>
    <dgm:pt modelId="{6493A559-075B-4BB7-834C-102DB5EFEA7F}" type="sibTrans" cxnId="{E85917C3-ED44-425D-950F-D6A8B298D6A0}">
      <dgm:prSet/>
      <dgm:spPr/>
      <dgm:t>
        <a:bodyPr/>
        <a:lstStyle/>
        <a:p>
          <a:endParaRPr lang="en-US"/>
        </a:p>
      </dgm:t>
    </dgm:pt>
    <dgm:pt modelId="{9AFAC535-450F-4A4B-A6A9-40A7A663A5EF}">
      <dgm:prSet phldrT="[Text]"/>
      <dgm:spPr/>
      <dgm:t>
        <a:bodyPr/>
        <a:lstStyle/>
        <a:p>
          <a:r>
            <a:rPr lang="es-ES" b="0" dirty="0" err="1"/>
            <a:t>Analyze</a:t>
          </a:r>
          <a:r>
            <a:rPr lang="es-ES" b="0" dirty="0"/>
            <a:t> t</a:t>
          </a:r>
          <a:r>
            <a:rPr lang="en-US" dirty="0"/>
            <a:t>he sales trends of the stores Baldwin Bikes, Rowlett Bikes, and Santa Cruz Bikes over time.</a:t>
          </a:r>
          <a:r>
            <a:rPr lang="es-ES" b="1" dirty="0"/>
            <a:t> </a:t>
          </a:r>
        </a:p>
        <a:p>
          <a:r>
            <a:rPr lang="es-ES" b="1" dirty="0"/>
            <a:t> </a:t>
          </a:r>
          <a:endParaRPr lang="en-US" dirty="0"/>
        </a:p>
      </dgm:t>
    </dgm:pt>
    <dgm:pt modelId="{46D3EB7E-024A-41DA-80DE-23C1D4727F57}" type="parTrans" cxnId="{E32910B5-3504-407D-9A92-37497E79B27F}">
      <dgm:prSet/>
      <dgm:spPr/>
      <dgm:t>
        <a:bodyPr/>
        <a:lstStyle/>
        <a:p>
          <a:endParaRPr lang="en-US"/>
        </a:p>
      </dgm:t>
    </dgm:pt>
    <dgm:pt modelId="{7E4E4315-84F3-405E-9053-56C68915AFE1}" type="sibTrans" cxnId="{E32910B5-3504-407D-9A92-37497E79B27F}">
      <dgm:prSet/>
      <dgm:spPr/>
      <dgm:t>
        <a:bodyPr/>
        <a:lstStyle/>
        <a:p>
          <a:endParaRPr lang="en-US"/>
        </a:p>
      </dgm:t>
    </dgm:pt>
    <dgm:pt modelId="{C9B9FC90-530F-4F53-8B64-94DB3173BA6D}">
      <dgm:prSet phldrT="[Text]"/>
      <dgm:spPr/>
      <dgm:t>
        <a:bodyPr/>
        <a:lstStyle/>
        <a:p>
          <a:r>
            <a:rPr lang="en-US" dirty="0"/>
            <a:t>Success Criteria</a:t>
          </a:r>
        </a:p>
      </dgm:t>
    </dgm:pt>
    <dgm:pt modelId="{74E5986F-24C8-4E56-82AE-F7ACE97CD8EE}" type="parTrans" cxnId="{5F872A1C-A96F-4579-AC8D-AB742C3D3BB9}">
      <dgm:prSet/>
      <dgm:spPr/>
      <dgm:t>
        <a:bodyPr/>
        <a:lstStyle/>
        <a:p>
          <a:endParaRPr lang="en-US"/>
        </a:p>
      </dgm:t>
    </dgm:pt>
    <dgm:pt modelId="{66036E85-BB58-4595-B60D-58AA973B2914}" type="sibTrans" cxnId="{5F872A1C-A96F-4579-AC8D-AB742C3D3BB9}">
      <dgm:prSet/>
      <dgm:spPr/>
      <dgm:t>
        <a:bodyPr/>
        <a:lstStyle/>
        <a:p>
          <a:endParaRPr lang="en-US"/>
        </a:p>
      </dgm:t>
    </dgm:pt>
    <dgm:pt modelId="{31D225CA-88D8-4691-B77C-6AFCEE2D48C2}">
      <dgm:prSet phldrT="[Text]"/>
      <dgm:spPr/>
      <dgm:t>
        <a:bodyPr/>
        <a:lstStyle/>
        <a:p>
          <a:r>
            <a:rPr lang="en-US" dirty="0"/>
            <a:t>Clearly observe the fluctuations in sales and identify which store performs the best.</a:t>
          </a:r>
        </a:p>
      </dgm:t>
    </dgm:pt>
    <dgm:pt modelId="{9CE155E9-668F-497C-9EAF-2ABF7D74D47E}" type="parTrans" cxnId="{327442F0-A19B-4C0C-9EC0-CB9D0138FFE9}">
      <dgm:prSet/>
      <dgm:spPr/>
      <dgm:t>
        <a:bodyPr/>
        <a:lstStyle/>
        <a:p>
          <a:endParaRPr lang="en-US"/>
        </a:p>
      </dgm:t>
    </dgm:pt>
    <dgm:pt modelId="{272BF7D7-B8C5-465F-A483-C56EB070D782}" type="sibTrans" cxnId="{327442F0-A19B-4C0C-9EC0-CB9D0138FFE9}">
      <dgm:prSet/>
      <dgm:spPr/>
      <dgm:t>
        <a:bodyPr/>
        <a:lstStyle/>
        <a:p>
          <a:endParaRPr lang="en-US"/>
        </a:p>
      </dgm:t>
    </dgm:pt>
    <dgm:pt modelId="{2813241B-2857-4E2B-A061-4A7BF901DAFB}" type="pres">
      <dgm:prSet presAssocID="{D7C4BCE5-B969-4BD1-841F-8DB091FDF6FC}" presName="Name0" presStyleCnt="0">
        <dgm:presLayoutVars>
          <dgm:dir/>
          <dgm:animLvl val="lvl"/>
          <dgm:resizeHandles val="exact"/>
        </dgm:presLayoutVars>
      </dgm:prSet>
      <dgm:spPr/>
    </dgm:pt>
    <dgm:pt modelId="{13B365BD-68E1-40C3-BEA1-E2E73599BE32}" type="pres">
      <dgm:prSet presAssocID="{23F1B00D-88CC-48DA-953F-BC5B285473AE}" presName="compositeNode" presStyleCnt="0">
        <dgm:presLayoutVars>
          <dgm:bulletEnabled val="1"/>
        </dgm:presLayoutVars>
      </dgm:prSet>
      <dgm:spPr/>
    </dgm:pt>
    <dgm:pt modelId="{5FF015E4-150A-416D-BCD6-FE7430FCDF55}" type="pres">
      <dgm:prSet presAssocID="{23F1B00D-88CC-48DA-953F-BC5B285473AE}" presName="bgRect" presStyleLbl="node1" presStyleIdx="0" presStyleCnt="2" custLinFactNeighborX="-39" custLinFactNeighborY="2383"/>
      <dgm:spPr/>
    </dgm:pt>
    <dgm:pt modelId="{78FF04C0-F3C9-44E7-8A5A-A62D25748B2F}" type="pres">
      <dgm:prSet presAssocID="{23F1B00D-88CC-48DA-953F-BC5B285473AE}" presName="parentNode" presStyleLbl="node1" presStyleIdx="0" presStyleCnt="2">
        <dgm:presLayoutVars>
          <dgm:chMax val="0"/>
          <dgm:bulletEnabled val="1"/>
        </dgm:presLayoutVars>
      </dgm:prSet>
      <dgm:spPr/>
    </dgm:pt>
    <dgm:pt modelId="{9477D9E1-77BB-492E-A78D-96F8580AF949}" type="pres">
      <dgm:prSet presAssocID="{23F1B00D-88CC-48DA-953F-BC5B285473AE}" presName="childNode" presStyleLbl="node1" presStyleIdx="0" presStyleCnt="2">
        <dgm:presLayoutVars>
          <dgm:bulletEnabled val="1"/>
        </dgm:presLayoutVars>
      </dgm:prSet>
      <dgm:spPr/>
    </dgm:pt>
    <dgm:pt modelId="{5F378F0A-EFC9-4269-933A-4B3B38903770}" type="pres">
      <dgm:prSet presAssocID="{6493A559-075B-4BB7-834C-102DB5EFEA7F}" presName="hSp" presStyleCnt="0"/>
      <dgm:spPr/>
    </dgm:pt>
    <dgm:pt modelId="{EF738326-CBFE-4E7C-ABB4-23FC6BB26B72}" type="pres">
      <dgm:prSet presAssocID="{6493A559-075B-4BB7-834C-102DB5EFEA7F}" presName="vProcSp" presStyleCnt="0"/>
      <dgm:spPr/>
    </dgm:pt>
    <dgm:pt modelId="{0EDF0E25-5EEF-44DB-9938-2935BBD44B58}" type="pres">
      <dgm:prSet presAssocID="{6493A559-075B-4BB7-834C-102DB5EFEA7F}" presName="vSp1" presStyleCnt="0"/>
      <dgm:spPr/>
    </dgm:pt>
    <dgm:pt modelId="{A8FD4AA7-986F-4700-A0A3-DF06CEF6AC5D}" type="pres">
      <dgm:prSet presAssocID="{6493A559-075B-4BB7-834C-102DB5EFEA7F}" presName="simulatedConn" presStyleLbl="solidFgAcc1" presStyleIdx="0" presStyleCnt="1"/>
      <dgm:spPr/>
    </dgm:pt>
    <dgm:pt modelId="{94DEF344-5D56-4DBF-AAF9-0EC39C92010B}" type="pres">
      <dgm:prSet presAssocID="{6493A559-075B-4BB7-834C-102DB5EFEA7F}" presName="vSp2" presStyleCnt="0"/>
      <dgm:spPr/>
    </dgm:pt>
    <dgm:pt modelId="{B63EF002-7D62-46E2-BD65-974E3D4E166D}" type="pres">
      <dgm:prSet presAssocID="{6493A559-075B-4BB7-834C-102DB5EFEA7F}" presName="sibTrans" presStyleCnt="0"/>
      <dgm:spPr/>
    </dgm:pt>
    <dgm:pt modelId="{114FD7C4-7419-4C9B-8324-4A9E5FB5D0C7}" type="pres">
      <dgm:prSet presAssocID="{C9B9FC90-530F-4F53-8B64-94DB3173BA6D}" presName="compositeNode" presStyleCnt="0">
        <dgm:presLayoutVars>
          <dgm:bulletEnabled val="1"/>
        </dgm:presLayoutVars>
      </dgm:prSet>
      <dgm:spPr/>
    </dgm:pt>
    <dgm:pt modelId="{917D4BF0-B082-4DDB-8544-F2AABBA92996}" type="pres">
      <dgm:prSet presAssocID="{C9B9FC90-530F-4F53-8B64-94DB3173BA6D}" presName="bgRect" presStyleLbl="node1" presStyleIdx="1" presStyleCnt="2"/>
      <dgm:spPr/>
    </dgm:pt>
    <dgm:pt modelId="{99604C76-4406-4D42-B453-681E25C3EFFD}" type="pres">
      <dgm:prSet presAssocID="{C9B9FC90-530F-4F53-8B64-94DB3173BA6D}" presName="parentNode" presStyleLbl="node1" presStyleIdx="1" presStyleCnt="2">
        <dgm:presLayoutVars>
          <dgm:chMax val="0"/>
          <dgm:bulletEnabled val="1"/>
        </dgm:presLayoutVars>
      </dgm:prSet>
      <dgm:spPr/>
    </dgm:pt>
    <dgm:pt modelId="{2E78B2A3-2621-41C0-B867-6D0B52E6D51E}" type="pres">
      <dgm:prSet presAssocID="{C9B9FC90-530F-4F53-8B64-94DB3173BA6D}" presName="childNode" presStyleLbl="node1" presStyleIdx="1" presStyleCnt="2">
        <dgm:presLayoutVars>
          <dgm:bulletEnabled val="1"/>
        </dgm:presLayoutVars>
      </dgm:prSet>
      <dgm:spPr/>
    </dgm:pt>
  </dgm:ptLst>
  <dgm:cxnLst>
    <dgm:cxn modelId="{5F872A1C-A96F-4579-AC8D-AB742C3D3BB9}" srcId="{D7C4BCE5-B969-4BD1-841F-8DB091FDF6FC}" destId="{C9B9FC90-530F-4F53-8B64-94DB3173BA6D}" srcOrd="1" destOrd="0" parTransId="{74E5986F-24C8-4E56-82AE-F7ACE97CD8EE}" sibTransId="{66036E85-BB58-4595-B60D-58AA973B2914}"/>
    <dgm:cxn modelId="{C6B80A29-3F65-4A9F-A997-AA1D7A1494F9}" type="presOf" srcId="{C9B9FC90-530F-4F53-8B64-94DB3173BA6D}" destId="{917D4BF0-B082-4DDB-8544-F2AABBA92996}" srcOrd="0" destOrd="0" presId="urn:microsoft.com/office/officeart/2005/8/layout/hProcess7"/>
    <dgm:cxn modelId="{B577F52B-CFBD-4B9D-92FD-7F83935BA627}" type="presOf" srcId="{D7C4BCE5-B969-4BD1-841F-8DB091FDF6FC}" destId="{2813241B-2857-4E2B-A061-4A7BF901DAFB}" srcOrd="0" destOrd="0" presId="urn:microsoft.com/office/officeart/2005/8/layout/hProcess7"/>
    <dgm:cxn modelId="{BC46AB89-E99E-4B1D-B304-6E533D6050D1}" type="presOf" srcId="{C9B9FC90-530F-4F53-8B64-94DB3173BA6D}" destId="{99604C76-4406-4D42-B453-681E25C3EFFD}" srcOrd="1" destOrd="0" presId="urn:microsoft.com/office/officeart/2005/8/layout/hProcess7"/>
    <dgm:cxn modelId="{BA816596-3095-4C68-AA20-409E7C91E337}" type="presOf" srcId="{23F1B00D-88CC-48DA-953F-BC5B285473AE}" destId="{5FF015E4-150A-416D-BCD6-FE7430FCDF55}" srcOrd="0" destOrd="0" presId="urn:microsoft.com/office/officeart/2005/8/layout/hProcess7"/>
    <dgm:cxn modelId="{C8FAD59A-C1BF-46DA-A265-30BFACA2B1BB}" type="presOf" srcId="{23F1B00D-88CC-48DA-953F-BC5B285473AE}" destId="{78FF04C0-F3C9-44E7-8A5A-A62D25748B2F}" srcOrd="1" destOrd="0" presId="urn:microsoft.com/office/officeart/2005/8/layout/hProcess7"/>
    <dgm:cxn modelId="{7F265AA8-C9C3-49F6-B40E-47623F1096AD}" type="presOf" srcId="{9AFAC535-450F-4A4B-A6A9-40A7A663A5EF}" destId="{9477D9E1-77BB-492E-A78D-96F8580AF949}" srcOrd="0" destOrd="0" presId="urn:microsoft.com/office/officeart/2005/8/layout/hProcess7"/>
    <dgm:cxn modelId="{E32910B5-3504-407D-9A92-37497E79B27F}" srcId="{23F1B00D-88CC-48DA-953F-BC5B285473AE}" destId="{9AFAC535-450F-4A4B-A6A9-40A7A663A5EF}" srcOrd="0" destOrd="0" parTransId="{46D3EB7E-024A-41DA-80DE-23C1D4727F57}" sibTransId="{7E4E4315-84F3-405E-9053-56C68915AFE1}"/>
    <dgm:cxn modelId="{E85917C3-ED44-425D-950F-D6A8B298D6A0}" srcId="{D7C4BCE5-B969-4BD1-841F-8DB091FDF6FC}" destId="{23F1B00D-88CC-48DA-953F-BC5B285473AE}" srcOrd="0" destOrd="0" parTransId="{56BDCBB5-F47F-4066-87E5-4F644D8F3527}" sibTransId="{6493A559-075B-4BB7-834C-102DB5EFEA7F}"/>
    <dgm:cxn modelId="{0F5586D3-7AAF-40D3-8FE2-075F97DF1B9D}" type="presOf" srcId="{31D225CA-88D8-4691-B77C-6AFCEE2D48C2}" destId="{2E78B2A3-2621-41C0-B867-6D0B52E6D51E}" srcOrd="0" destOrd="0" presId="urn:microsoft.com/office/officeart/2005/8/layout/hProcess7"/>
    <dgm:cxn modelId="{327442F0-A19B-4C0C-9EC0-CB9D0138FFE9}" srcId="{C9B9FC90-530F-4F53-8B64-94DB3173BA6D}" destId="{31D225CA-88D8-4691-B77C-6AFCEE2D48C2}" srcOrd="0" destOrd="0" parTransId="{9CE155E9-668F-497C-9EAF-2ABF7D74D47E}" sibTransId="{272BF7D7-B8C5-465F-A483-C56EB070D782}"/>
    <dgm:cxn modelId="{E15540FB-010E-4B66-81D2-08B027E5B0D2}" type="presParOf" srcId="{2813241B-2857-4E2B-A061-4A7BF901DAFB}" destId="{13B365BD-68E1-40C3-BEA1-E2E73599BE32}" srcOrd="0" destOrd="0" presId="urn:microsoft.com/office/officeart/2005/8/layout/hProcess7"/>
    <dgm:cxn modelId="{F0A6BD4C-92EC-478B-B931-A058D2CCEC57}" type="presParOf" srcId="{13B365BD-68E1-40C3-BEA1-E2E73599BE32}" destId="{5FF015E4-150A-416D-BCD6-FE7430FCDF55}" srcOrd="0" destOrd="0" presId="urn:microsoft.com/office/officeart/2005/8/layout/hProcess7"/>
    <dgm:cxn modelId="{FDD653AC-7F71-49C0-8C85-AEF8E779F0BB}" type="presParOf" srcId="{13B365BD-68E1-40C3-BEA1-E2E73599BE32}" destId="{78FF04C0-F3C9-44E7-8A5A-A62D25748B2F}" srcOrd="1" destOrd="0" presId="urn:microsoft.com/office/officeart/2005/8/layout/hProcess7"/>
    <dgm:cxn modelId="{9643F2C7-3441-47CB-A7C7-02A183F3CBEC}" type="presParOf" srcId="{13B365BD-68E1-40C3-BEA1-E2E73599BE32}" destId="{9477D9E1-77BB-492E-A78D-96F8580AF949}" srcOrd="2" destOrd="0" presId="urn:microsoft.com/office/officeart/2005/8/layout/hProcess7"/>
    <dgm:cxn modelId="{15AFC19C-3C2D-488C-BAC1-B0DCF30E144C}" type="presParOf" srcId="{2813241B-2857-4E2B-A061-4A7BF901DAFB}" destId="{5F378F0A-EFC9-4269-933A-4B3B38903770}" srcOrd="1" destOrd="0" presId="urn:microsoft.com/office/officeart/2005/8/layout/hProcess7"/>
    <dgm:cxn modelId="{102A65DD-D12C-4DE4-B95E-1B05566AFC73}" type="presParOf" srcId="{2813241B-2857-4E2B-A061-4A7BF901DAFB}" destId="{EF738326-CBFE-4E7C-ABB4-23FC6BB26B72}" srcOrd="2" destOrd="0" presId="urn:microsoft.com/office/officeart/2005/8/layout/hProcess7"/>
    <dgm:cxn modelId="{D96127A4-2BFB-48A8-B198-B2B31086BDD9}" type="presParOf" srcId="{EF738326-CBFE-4E7C-ABB4-23FC6BB26B72}" destId="{0EDF0E25-5EEF-44DB-9938-2935BBD44B58}" srcOrd="0" destOrd="0" presId="urn:microsoft.com/office/officeart/2005/8/layout/hProcess7"/>
    <dgm:cxn modelId="{BA4E4A3E-9A1E-4FBA-A691-0C1DA66DEE6E}" type="presParOf" srcId="{EF738326-CBFE-4E7C-ABB4-23FC6BB26B72}" destId="{A8FD4AA7-986F-4700-A0A3-DF06CEF6AC5D}" srcOrd="1" destOrd="0" presId="urn:microsoft.com/office/officeart/2005/8/layout/hProcess7"/>
    <dgm:cxn modelId="{FB34E5C5-C6EB-4555-801B-FD63A5B67BDA}" type="presParOf" srcId="{EF738326-CBFE-4E7C-ABB4-23FC6BB26B72}" destId="{94DEF344-5D56-4DBF-AAF9-0EC39C92010B}" srcOrd="2" destOrd="0" presId="urn:microsoft.com/office/officeart/2005/8/layout/hProcess7"/>
    <dgm:cxn modelId="{D8289B93-56D5-4ED9-B3E1-4695D0127DC0}" type="presParOf" srcId="{2813241B-2857-4E2B-A061-4A7BF901DAFB}" destId="{B63EF002-7D62-46E2-BD65-974E3D4E166D}" srcOrd="3" destOrd="0" presId="urn:microsoft.com/office/officeart/2005/8/layout/hProcess7"/>
    <dgm:cxn modelId="{F9269F03-BDB4-4E90-8495-E9D339258562}" type="presParOf" srcId="{2813241B-2857-4E2B-A061-4A7BF901DAFB}" destId="{114FD7C4-7419-4C9B-8324-4A9E5FB5D0C7}" srcOrd="4" destOrd="0" presId="urn:microsoft.com/office/officeart/2005/8/layout/hProcess7"/>
    <dgm:cxn modelId="{342775F1-EA28-4495-9F18-C2EC651158F7}" type="presParOf" srcId="{114FD7C4-7419-4C9B-8324-4A9E5FB5D0C7}" destId="{917D4BF0-B082-4DDB-8544-F2AABBA92996}" srcOrd="0" destOrd="0" presId="urn:microsoft.com/office/officeart/2005/8/layout/hProcess7"/>
    <dgm:cxn modelId="{AF36C190-90EF-4267-B1C6-0D39465217AC}" type="presParOf" srcId="{114FD7C4-7419-4C9B-8324-4A9E5FB5D0C7}" destId="{99604C76-4406-4D42-B453-681E25C3EFFD}" srcOrd="1" destOrd="0" presId="urn:microsoft.com/office/officeart/2005/8/layout/hProcess7"/>
    <dgm:cxn modelId="{77DA8310-C411-4FF6-B523-80444ADA4E1C}" type="presParOf" srcId="{114FD7C4-7419-4C9B-8324-4A9E5FB5D0C7}" destId="{2E78B2A3-2621-41C0-B867-6D0B52E6D51E}" srcOrd="2"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C4BCE5-B969-4BD1-841F-8DB091FDF6FC}" type="doc">
      <dgm:prSet loTypeId="urn:microsoft.com/office/officeart/2005/8/layout/hProcess7" loCatId="process" qsTypeId="urn:microsoft.com/office/officeart/2005/8/quickstyle/simple1" qsCatId="simple" csTypeId="urn:microsoft.com/office/officeart/2005/8/colors/accent3_2" csCatId="accent3" phldr="1"/>
      <dgm:spPr/>
      <dgm:t>
        <a:bodyPr/>
        <a:lstStyle/>
        <a:p>
          <a:endParaRPr lang="en-US"/>
        </a:p>
      </dgm:t>
    </dgm:pt>
    <dgm:pt modelId="{23F1B00D-88CC-48DA-953F-BC5B285473AE}">
      <dgm:prSet phldrT="[Text]"/>
      <dgm:spPr/>
      <dgm:t>
        <a:bodyPr/>
        <a:lstStyle/>
        <a:p>
          <a:r>
            <a:rPr lang="en-US" dirty="0"/>
            <a:t>Objective</a:t>
          </a:r>
        </a:p>
      </dgm:t>
    </dgm:pt>
    <dgm:pt modelId="{56BDCBB5-F47F-4066-87E5-4F644D8F3527}" type="parTrans" cxnId="{E85917C3-ED44-425D-950F-D6A8B298D6A0}">
      <dgm:prSet/>
      <dgm:spPr/>
      <dgm:t>
        <a:bodyPr/>
        <a:lstStyle/>
        <a:p>
          <a:endParaRPr lang="en-US"/>
        </a:p>
      </dgm:t>
    </dgm:pt>
    <dgm:pt modelId="{6493A559-075B-4BB7-834C-102DB5EFEA7F}" type="sibTrans" cxnId="{E85917C3-ED44-425D-950F-D6A8B298D6A0}">
      <dgm:prSet/>
      <dgm:spPr/>
      <dgm:t>
        <a:bodyPr/>
        <a:lstStyle/>
        <a:p>
          <a:endParaRPr lang="en-US"/>
        </a:p>
      </dgm:t>
    </dgm:pt>
    <dgm:pt modelId="{9AFAC535-450F-4A4B-A6A9-40A7A663A5EF}">
      <dgm:prSet phldrT="[Text]" custT="1"/>
      <dgm:spPr/>
      <dgm:t>
        <a:bodyPr/>
        <a:lstStyle/>
        <a:p>
          <a:r>
            <a:rPr lang="en-US" sz="1000" dirty="0"/>
            <a:t>Analyze the variability in inventory days between the order date and the shipping date for each store, to identify whether there are delivery delays or longer inventory times in certain years.</a:t>
          </a:r>
          <a:r>
            <a:rPr lang="es-ES" sz="800" b="1" dirty="0"/>
            <a:t>   </a:t>
          </a:r>
          <a:endParaRPr lang="en-US" sz="800" b="1" dirty="0"/>
        </a:p>
      </dgm:t>
    </dgm:pt>
    <dgm:pt modelId="{46D3EB7E-024A-41DA-80DE-23C1D4727F57}" type="parTrans" cxnId="{E32910B5-3504-407D-9A92-37497E79B27F}">
      <dgm:prSet/>
      <dgm:spPr/>
      <dgm:t>
        <a:bodyPr/>
        <a:lstStyle/>
        <a:p>
          <a:endParaRPr lang="en-US"/>
        </a:p>
      </dgm:t>
    </dgm:pt>
    <dgm:pt modelId="{7E4E4315-84F3-405E-9053-56C68915AFE1}" type="sibTrans" cxnId="{E32910B5-3504-407D-9A92-37497E79B27F}">
      <dgm:prSet/>
      <dgm:spPr/>
      <dgm:t>
        <a:bodyPr/>
        <a:lstStyle/>
        <a:p>
          <a:endParaRPr lang="en-US"/>
        </a:p>
      </dgm:t>
    </dgm:pt>
    <dgm:pt modelId="{C9B9FC90-530F-4F53-8B64-94DB3173BA6D}">
      <dgm:prSet phldrT="[Text]"/>
      <dgm:spPr/>
      <dgm:t>
        <a:bodyPr/>
        <a:lstStyle/>
        <a:p>
          <a:r>
            <a:rPr lang="en-US" dirty="0"/>
            <a:t>Success Criteria</a:t>
          </a:r>
        </a:p>
      </dgm:t>
    </dgm:pt>
    <dgm:pt modelId="{74E5986F-24C8-4E56-82AE-F7ACE97CD8EE}" type="parTrans" cxnId="{5F872A1C-A96F-4579-AC8D-AB742C3D3BB9}">
      <dgm:prSet/>
      <dgm:spPr/>
      <dgm:t>
        <a:bodyPr/>
        <a:lstStyle/>
        <a:p>
          <a:endParaRPr lang="en-US"/>
        </a:p>
      </dgm:t>
    </dgm:pt>
    <dgm:pt modelId="{66036E85-BB58-4595-B60D-58AA973B2914}" type="sibTrans" cxnId="{5F872A1C-A96F-4579-AC8D-AB742C3D3BB9}">
      <dgm:prSet/>
      <dgm:spPr/>
      <dgm:t>
        <a:bodyPr/>
        <a:lstStyle/>
        <a:p>
          <a:endParaRPr lang="en-US"/>
        </a:p>
      </dgm:t>
    </dgm:pt>
    <dgm:pt modelId="{31D225CA-88D8-4691-B77C-6AFCEE2D48C2}">
      <dgm:prSet phldrT="[Text]" custT="1"/>
      <dgm:spPr/>
      <dgm:t>
        <a:bodyPr/>
        <a:lstStyle/>
        <a:p>
          <a:r>
            <a:rPr lang="en-US" sz="1400" b="1" dirty="0"/>
            <a:t>Observe the evolution of the average inventory days over the years for each store.</a:t>
          </a:r>
        </a:p>
      </dgm:t>
    </dgm:pt>
    <dgm:pt modelId="{9CE155E9-668F-497C-9EAF-2ABF7D74D47E}" type="parTrans" cxnId="{327442F0-A19B-4C0C-9EC0-CB9D0138FFE9}">
      <dgm:prSet/>
      <dgm:spPr/>
      <dgm:t>
        <a:bodyPr/>
        <a:lstStyle/>
        <a:p>
          <a:endParaRPr lang="en-US"/>
        </a:p>
      </dgm:t>
    </dgm:pt>
    <dgm:pt modelId="{272BF7D7-B8C5-465F-A483-C56EB070D782}" type="sibTrans" cxnId="{327442F0-A19B-4C0C-9EC0-CB9D0138FFE9}">
      <dgm:prSet/>
      <dgm:spPr/>
      <dgm:t>
        <a:bodyPr/>
        <a:lstStyle/>
        <a:p>
          <a:endParaRPr lang="en-US"/>
        </a:p>
      </dgm:t>
    </dgm:pt>
    <dgm:pt modelId="{2813241B-2857-4E2B-A061-4A7BF901DAFB}" type="pres">
      <dgm:prSet presAssocID="{D7C4BCE5-B969-4BD1-841F-8DB091FDF6FC}" presName="Name0" presStyleCnt="0">
        <dgm:presLayoutVars>
          <dgm:dir/>
          <dgm:animLvl val="lvl"/>
          <dgm:resizeHandles val="exact"/>
        </dgm:presLayoutVars>
      </dgm:prSet>
      <dgm:spPr/>
    </dgm:pt>
    <dgm:pt modelId="{13B365BD-68E1-40C3-BEA1-E2E73599BE32}" type="pres">
      <dgm:prSet presAssocID="{23F1B00D-88CC-48DA-953F-BC5B285473AE}" presName="compositeNode" presStyleCnt="0">
        <dgm:presLayoutVars>
          <dgm:bulletEnabled val="1"/>
        </dgm:presLayoutVars>
      </dgm:prSet>
      <dgm:spPr/>
    </dgm:pt>
    <dgm:pt modelId="{5FF015E4-150A-416D-BCD6-FE7430FCDF55}" type="pres">
      <dgm:prSet presAssocID="{23F1B00D-88CC-48DA-953F-BC5B285473AE}" presName="bgRect" presStyleLbl="node1" presStyleIdx="0" presStyleCnt="2" custLinFactNeighborX="-39" custLinFactNeighborY="-678"/>
      <dgm:spPr/>
    </dgm:pt>
    <dgm:pt modelId="{78FF04C0-F3C9-44E7-8A5A-A62D25748B2F}" type="pres">
      <dgm:prSet presAssocID="{23F1B00D-88CC-48DA-953F-BC5B285473AE}" presName="parentNode" presStyleLbl="node1" presStyleIdx="0" presStyleCnt="2">
        <dgm:presLayoutVars>
          <dgm:chMax val="0"/>
          <dgm:bulletEnabled val="1"/>
        </dgm:presLayoutVars>
      </dgm:prSet>
      <dgm:spPr/>
    </dgm:pt>
    <dgm:pt modelId="{9477D9E1-77BB-492E-A78D-96F8580AF949}" type="pres">
      <dgm:prSet presAssocID="{23F1B00D-88CC-48DA-953F-BC5B285473AE}" presName="childNode" presStyleLbl="node1" presStyleIdx="0" presStyleCnt="2">
        <dgm:presLayoutVars>
          <dgm:bulletEnabled val="1"/>
        </dgm:presLayoutVars>
      </dgm:prSet>
      <dgm:spPr/>
    </dgm:pt>
    <dgm:pt modelId="{5F378F0A-EFC9-4269-933A-4B3B38903770}" type="pres">
      <dgm:prSet presAssocID="{6493A559-075B-4BB7-834C-102DB5EFEA7F}" presName="hSp" presStyleCnt="0"/>
      <dgm:spPr/>
    </dgm:pt>
    <dgm:pt modelId="{EF738326-CBFE-4E7C-ABB4-23FC6BB26B72}" type="pres">
      <dgm:prSet presAssocID="{6493A559-075B-4BB7-834C-102DB5EFEA7F}" presName="vProcSp" presStyleCnt="0"/>
      <dgm:spPr/>
    </dgm:pt>
    <dgm:pt modelId="{0EDF0E25-5EEF-44DB-9938-2935BBD44B58}" type="pres">
      <dgm:prSet presAssocID="{6493A559-075B-4BB7-834C-102DB5EFEA7F}" presName="vSp1" presStyleCnt="0"/>
      <dgm:spPr/>
    </dgm:pt>
    <dgm:pt modelId="{A8FD4AA7-986F-4700-A0A3-DF06CEF6AC5D}" type="pres">
      <dgm:prSet presAssocID="{6493A559-075B-4BB7-834C-102DB5EFEA7F}" presName="simulatedConn" presStyleLbl="solidFgAcc1" presStyleIdx="0" presStyleCnt="1"/>
      <dgm:spPr/>
    </dgm:pt>
    <dgm:pt modelId="{94DEF344-5D56-4DBF-AAF9-0EC39C92010B}" type="pres">
      <dgm:prSet presAssocID="{6493A559-075B-4BB7-834C-102DB5EFEA7F}" presName="vSp2" presStyleCnt="0"/>
      <dgm:spPr/>
    </dgm:pt>
    <dgm:pt modelId="{B63EF002-7D62-46E2-BD65-974E3D4E166D}" type="pres">
      <dgm:prSet presAssocID="{6493A559-075B-4BB7-834C-102DB5EFEA7F}" presName="sibTrans" presStyleCnt="0"/>
      <dgm:spPr/>
    </dgm:pt>
    <dgm:pt modelId="{114FD7C4-7419-4C9B-8324-4A9E5FB5D0C7}" type="pres">
      <dgm:prSet presAssocID="{C9B9FC90-530F-4F53-8B64-94DB3173BA6D}" presName="compositeNode" presStyleCnt="0">
        <dgm:presLayoutVars>
          <dgm:bulletEnabled val="1"/>
        </dgm:presLayoutVars>
      </dgm:prSet>
      <dgm:spPr/>
    </dgm:pt>
    <dgm:pt modelId="{917D4BF0-B082-4DDB-8544-F2AABBA92996}" type="pres">
      <dgm:prSet presAssocID="{C9B9FC90-530F-4F53-8B64-94DB3173BA6D}" presName="bgRect" presStyleLbl="node1" presStyleIdx="1" presStyleCnt="2"/>
      <dgm:spPr/>
    </dgm:pt>
    <dgm:pt modelId="{99604C76-4406-4D42-B453-681E25C3EFFD}" type="pres">
      <dgm:prSet presAssocID="{C9B9FC90-530F-4F53-8B64-94DB3173BA6D}" presName="parentNode" presStyleLbl="node1" presStyleIdx="1" presStyleCnt="2">
        <dgm:presLayoutVars>
          <dgm:chMax val="0"/>
          <dgm:bulletEnabled val="1"/>
        </dgm:presLayoutVars>
      </dgm:prSet>
      <dgm:spPr/>
    </dgm:pt>
    <dgm:pt modelId="{2E78B2A3-2621-41C0-B867-6D0B52E6D51E}" type="pres">
      <dgm:prSet presAssocID="{C9B9FC90-530F-4F53-8B64-94DB3173BA6D}" presName="childNode" presStyleLbl="node1" presStyleIdx="1" presStyleCnt="2">
        <dgm:presLayoutVars>
          <dgm:bulletEnabled val="1"/>
        </dgm:presLayoutVars>
      </dgm:prSet>
      <dgm:spPr/>
    </dgm:pt>
  </dgm:ptLst>
  <dgm:cxnLst>
    <dgm:cxn modelId="{5F872A1C-A96F-4579-AC8D-AB742C3D3BB9}" srcId="{D7C4BCE5-B969-4BD1-841F-8DB091FDF6FC}" destId="{C9B9FC90-530F-4F53-8B64-94DB3173BA6D}" srcOrd="1" destOrd="0" parTransId="{74E5986F-24C8-4E56-82AE-F7ACE97CD8EE}" sibTransId="{66036E85-BB58-4595-B60D-58AA973B2914}"/>
    <dgm:cxn modelId="{C6B80A29-3F65-4A9F-A997-AA1D7A1494F9}" type="presOf" srcId="{C9B9FC90-530F-4F53-8B64-94DB3173BA6D}" destId="{917D4BF0-B082-4DDB-8544-F2AABBA92996}" srcOrd="0" destOrd="0" presId="urn:microsoft.com/office/officeart/2005/8/layout/hProcess7"/>
    <dgm:cxn modelId="{B577F52B-CFBD-4B9D-92FD-7F83935BA627}" type="presOf" srcId="{D7C4BCE5-B969-4BD1-841F-8DB091FDF6FC}" destId="{2813241B-2857-4E2B-A061-4A7BF901DAFB}" srcOrd="0" destOrd="0" presId="urn:microsoft.com/office/officeart/2005/8/layout/hProcess7"/>
    <dgm:cxn modelId="{BC46AB89-E99E-4B1D-B304-6E533D6050D1}" type="presOf" srcId="{C9B9FC90-530F-4F53-8B64-94DB3173BA6D}" destId="{99604C76-4406-4D42-B453-681E25C3EFFD}" srcOrd="1" destOrd="0" presId="urn:microsoft.com/office/officeart/2005/8/layout/hProcess7"/>
    <dgm:cxn modelId="{BA816596-3095-4C68-AA20-409E7C91E337}" type="presOf" srcId="{23F1B00D-88CC-48DA-953F-BC5B285473AE}" destId="{5FF015E4-150A-416D-BCD6-FE7430FCDF55}" srcOrd="0" destOrd="0" presId="urn:microsoft.com/office/officeart/2005/8/layout/hProcess7"/>
    <dgm:cxn modelId="{C8FAD59A-C1BF-46DA-A265-30BFACA2B1BB}" type="presOf" srcId="{23F1B00D-88CC-48DA-953F-BC5B285473AE}" destId="{78FF04C0-F3C9-44E7-8A5A-A62D25748B2F}" srcOrd="1" destOrd="0" presId="urn:microsoft.com/office/officeart/2005/8/layout/hProcess7"/>
    <dgm:cxn modelId="{7F265AA8-C9C3-49F6-B40E-47623F1096AD}" type="presOf" srcId="{9AFAC535-450F-4A4B-A6A9-40A7A663A5EF}" destId="{9477D9E1-77BB-492E-A78D-96F8580AF949}" srcOrd="0" destOrd="0" presId="urn:microsoft.com/office/officeart/2005/8/layout/hProcess7"/>
    <dgm:cxn modelId="{E32910B5-3504-407D-9A92-37497E79B27F}" srcId="{23F1B00D-88CC-48DA-953F-BC5B285473AE}" destId="{9AFAC535-450F-4A4B-A6A9-40A7A663A5EF}" srcOrd="0" destOrd="0" parTransId="{46D3EB7E-024A-41DA-80DE-23C1D4727F57}" sibTransId="{7E4E4315-84F3-405E-9053-56C68915AFE1}"/>
    <dgm:cxn modelId="{E85917C3-ED44-425D-950F-D6A8B298D6A0}" srcId="{D7C4BCE5-B969-4BD1-841F-8DB091FDF6FC}" destId="{23F1B00D-88CC-48DA-953F-BC5B285473AE}" srcOrd="0" destOrd="0" parTransId="{56BDCBB5-F47F-4066-87E5-4F644D8F3527}" sibTransId="{6493A559-075B-4BB7-834C-102DB5EFEA7F}"/>
    <dgm:cxn modelId="{0F5586D3-7AAF-40D3-8FE2-075F97DF1B9D}" type="presOf" srcId="{31D225CA-88D8-4691-B77C-6AFCEE2D48C2}" destId="{2E78B2A3-2621-41C0-B867-6D0B52E6D51E}" srcOrd="0" destOrd="0" presId="urn:microsoft.com/office/officeart/2005/8/layout/hProcess7"/>
    <dgm:cxn modelId="{327442F0-A19B-4C0C-9EC0-CB9D0138FFE9}" srcId="{C9B9FC90-530F-4F53-8B64-94DB3173BA6D}" destId="{31D225CA-88D8-4691-B77C-6AFCEE2D48C2}" srcOrd="0" destOrd="0" parTransId="{9CE155E9-668F-497C-9EAF-2ABF7D74D47E}" sibTransId="{272BF7D7-B8C5-465F-A483-C56EB070D782}"/>
    <dgm:cxn modelId="{E15540FB-010E-4B66-81D2-08B027E5B0D2}" type="presParOf" srcId="{2813241B-2857-4E2B-A061-4A7BF901DAFB}" destId="{13B365BD-68E1-40C3-BEA1-E2E73599BE32}" srcOrd="0" destOrd="0" presId="urn:microsoft.com/office/officeart/2005/8/layout/hProcess7"/>
    <dgm:cxn modelId="{F0A6BD4C-92EC-478B-B931-A058D2CCEC57}" type="presParOf" srcId="{13B365BD-68E1-40C3-BEA1-E2E73599BE32}" destId="{5FF015E4-150A-416D-BCD6-FE7430FCDF55}" srcOrd="0" destOrd="0" presId="urn:microsoft.com/office/officeart/2005/8/layout/hProcess7"/>
    <dgm:cxn modelId="{FDD653AC-7F71-49C0-8C85-AEF8E779F0BB}" type="presParOf" srcId="{13B365BD-68E1-40C3-BEA1-E2E73599BE32}" destId="{78FF04C0-F3C9-44E7-8A5A-A62D25748B2F}" srcOrd="1" destOrd="0" presId="urn:microsoft.com/office/officeart/2005/8/layout/hProcess7"/>
    <dgm:cxn modelId="{9643F2C7-3441-47CB-A7C7-02A183F3CBEC}" type="presParOf" srcId="{13B365BD-68E1-40C3-BEA1-E2E73599BE32}" destId="{9477D9E1-77BB-492E-A78D-96F8580AF949}" srcOrd="2" destOrd="0" presId="urn:microsoft.com/office/officeart/2005/8/layout/hProcess7"/>
    <dgm:cxn modelId="{15AFC19C-3C2D-488C-BAC1-B0DCF30E144C}" type="presParOf" srcId="{2813241B-2857-4E2B-A061-4A7BF901DAFB}" destId="{5F378F0A-EFC9-4269-933A-4B3B38903770}" srcOrd="1" destOrd="0" presId="urn:microsoft.com/office/officeart/2005/8/layout/hProcess7"/>
    <dgm:cxn modelId="{102A65DD-D12C-4DE4-B95E-1B05566AFC73}" type="presParOf" srcId="{2813241B-2857-4E2B-A061-4A7BF901DAFB}" destId="{EF738326-CBFE-4E7C-ABB4-23FC6BB26B72}" srcOrd="2" destOrd="0" presId="urn:microsoft.com/office/officeart/2005/8/layout/hProcess7"/>
    <dgm:cxn modelId="{D96127A4-2BFB-48A8-B198-B2B31086BDD9}" type="presParOf" srcId="{EF738326-CBFE-4E7C-ABB4-23FC6BB26B72}" destId="{0EDF0E25-5EEF-44DB-9938-2935BBD44B58}" srcOrd="0" destOrd="0" presId="urn:microsoft.com/office/officeart/2005/8/layout/hProcess7"/>
    <dgm:cxn modelId="{BA4E4A3E-9A1E-4FBA-A691-0C1DA66DEE6E}" type="presParOf" srcId="{EF738326-CBFE-4E7C-ABB4-23FC6BB26B72}" destId="{A8FD4AA7-986F-4700-A0A3-DF06CEF6AC5D}" srcOrd="1" destOrd="0" presId="urn:microsoft.com/office/officeart/2005/8/layout/hProcess7"/>
    <dgm:cxn modelId="{FB34E5C5-C6EB-4555-801B-FD63A5B67BDA}" type="presParOf" srcId="{EF738326-CBFE-4E7C-ABB4-23FC6BB26B72}" destId="{94DEF344-5D56-4DBF-AAF9-0EC39C92010B}" srcOrd="2" destOrd="0" presId="urn:microsoft.com/office/officeart/2005/8/layout/hProcess7"/>
    <dgm:cxn modelId="{D8289B93-56D5-4ED9-B3E1-4695D0127DC0}" type="presParOf" srcId="{2813241B-2857-4E2B-A061-4A7BF901DAFB}" destId="{B63EF002-7D62-46E2-BD65-974E3D4E166D}" srcOrd="3" destOrd="0" presId="urn:microsoft.com/office/officeart/2005/8/layout/hProcess7"/>
    <dgm:cxn modelId="{F9269F03-BDB4-4E90-8495-E9D339258562}" type="presParOf" srcId="{2813241B-2857-4E2B-A061-4A7BF901DAFB}" destId="{114FD7C4-7419-4C9B-8324-4A9E5FB5D0C7}" srcOrd="4" destOrd="0" presId="urn:microsoft.com/office/officeart/2005/8/layout/hProcess7"/>
    <dgm:cxn modelId="{342775F1-EA28-4495-9F18-C2EC651158F7}" type="presParOf" srcId="{114FD7C4-7419-4C9B-8324-4A9E5FB5D0C7}" destId="{917D4BF0-B082-4DDB-8544-F2AABBA92996}" srcOrd="0" destOrd="0" presId="urn:microsoft.com/office/officeart/2005/8/layout/hProcess7"/>
    <dgm:cxn modelId="{AF36C190-90EF-4267-B1C6-0D39465217AC}" type="presParOf" srcId="{114FD7C4-7419-4C9B-8324-4A9E5FB5D0C7}" destId="{99604C76-4406-4D42-B453-681E25C3EFFD}" srcOrd="1" destOrd="0" presId="urn:microsoft.com/office/officeart/2005/8/layout/hProcess7"/>
    <dgm:cxn modelId="{77DA8310-C411-4FF6-B523-80444ADA4E1C}" type="presParOf" srcId="{114FD7C4-7419-4C9B-8324-4A9E5FB5D0C7}" destId="{2E78B2A3-2621-41C0-B867-6D0B52E6D51E}" srcOrd="2" destOrd="0" presId="urn:microsoft.com/office/officeart/2005/8/layout/hProcess7"/>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7C4BCE5-B969-4BD1-841F-8DB091FDF6FC}" type="doc">
      <dgm:prSet loTypeId="urn:microsoft.com/office/officeart/2005/8/layout/hProcess7" loCatId="process" qsTypeId="urn:microsoft.com/office/officeart/2005/8/quickstyle/simple1" qsCatId="simple" csTypeId="urn:microsoft.com/office/officeart/2005/8/colors/accent5_2" csCatId="accent5" phldr="1"/>
      <dgm:spPr/>
      <dgm:t>
        <a:bodyPr/>
        <a:lstStyle/>
        <a:p>
          <a:endParaRPr lang="en-US"/>
        </a:p>
      </dgm:t>
    </dgm:pt>
    <dgm:pt modelId="{23F1B00D-88CC-48DA-953F-BC5B285473AE}">
      <dgm:prSet phldrT="[Text]"/>
      <dgm:spPr/>
      <dgm:t>
        <a:bodyPr/>
        <a:lstStyle/>
        <a:p>
          <a:r>
            <a:rPr lang="es-CR" dirty="0" err="1"/>
            <a:t>Objective</a:t>
          </a:r>
          <a:endParaRPr lang="en-US" dirty="0"/>
        </a:p>
      </dgm:t>
    </dgm:pt>
    <dgm:pt modelId="{56BDCBB5-F47F-4066-87E5-4F644D8F3527}" type="parTrans" cxnId="{E85917C3-ED44-425D-950F-D6A8B298D6A0}">
      <dgm:prSet/>
      <dgm:spPr/>
      <dgm:t>
        <a:bodyPr/>
        <a:lstStyle/>
        <a:p>
          <a:endParaRPr lang="en-US"/>
        </a:p>
      </dgm:t>
    </dgm:pt>
    <dgm:pt modelId="{6493A559-075B-4BB7-834C-102DB5EFEA7F}" type="sibTrans" cxnId="{E85917C3-ED44-425D-950F-D6A8B298D6A0}">
      <dgm:prSet/>
      <dgm:spPr/>
      <dgm:t>
        <a:bodyPr/>
        <a:lstStyle/>
        <a:p>
          <a:endParaRPr lang="en-US"/>
        </a:p>
      </dgm:t>
    </dgm:pt>
    <dgm:pt modelId="{9AFAC535-450F-4A4B-A6A9-40A7A663A5EF}">
      <dgm:prSet phldrT="[Text]" custT="1"/>
      <dgm:spPr/>
      <dgm:t>
        <a:bodyPr/>
        <a:lstStyle/>
        <a:p>
          <a:r>
            <a:rPr lang="en-US" sz="1000" dirty="0"/>
            <a:t>Analyze the distribution of sales by product to highlight popular items as well as those that may require additional promotion or inventory restocking.</a:t>
          </a:r>
          <a:endParaRPr lang="es-ES" sz="1000" b="1" dirty="0"/>
        </a:p>
        <a:p>
          <a:r>
            <a:rPr lang="es-ES" sz="1000" b="1" dirty="0"/>
            <a:t> </a:t>
          </a:r>
          <a:r>
            <a:rPr lang="es-ES" sz="800" b="1" dirty="0"/>
            <a:t>   </a:t>
          </a:r>
          <a:endParaRPr lang="en-US" sz="800" b="1" dirty="0"/>
        </a:p>
      </dgm:t>
    </dgm:pt>
    <dgm:pt modelId="{46D3EB7E-024A-41DA-80DE-23C1D4727F57}" type="parTrans" cxnId="{E32910B5-3504-407D-9A92-37497E79B27F}">
      <dgm:prSet/>
      <dgm:spPr/>
      <dgm:t>
        <a:bodyPr/>
        <a:lstStyle/>
        <a:p>
          <a:endParaRPr lang="en-US"/>
        </a:p>
      </dgm:t>
    </dgm:pt>
    <dgm:pt modelId="{7E4E4315-84F3-405E-9053-56C68915AFE1}" type="sibTrans" cxnId="{E32910B5-3504-407D-9A92-37497E79B27F}">
      <dgm:prSet/>
      <dgm:spPr/>
      <dgm:t>
        <a:bodyPr/>
        <a:lstStyle/>
        <a:p>
          <a:endParaRPr lang="en-US"/>
        </a:p>
      </dgm:t>
    </dgm:pt>
    <dgm:pt modelId="{C9B9FC90-530F-4F53-8B64-94DB3173BA6D}">
      <dgm:prSet phldrT="[Text]"/>
      <dgm:spPr/>
      <dgm:t>
        <a:bodyPr/>
        <a:lstStyle/>
        <a:p>
          <a:r>
            <a:rPr lang="es-CR" dirty="0" err="1"/>
            <a:t>Success</a:t>
          </a:r>
          <a:r>
            <a:rPr lang="es-CR" dirty="0"/>
            <a:t> </a:t>
          </a:r>
          <a:r>
            <a:rPr lang="es-CR" dirty="0" err="1"/>
            <a:t>Criteria</a:t>
          </a:r>
          <a:endParaRPr lang="en-US" dirty="0"/>
        </a:p>
      </dgm:t>
    </dgm:pt>
    <dgm:pt modelId="{74E5986F-24C8-4E56-82AE-F7ACE97CD8EE}" type="parTrans" cxnId="{5F872A1C-A96F-4579-AC8D-AB742C3D3BB9}">
      <dgm:prSet/>
      <dgm:spPr/>
      <dgm:t>
        <a:bodyPr/>
        <a:lstStyle/>
        <a:p>
          <a:endParaRPr lang="en-US"/>
        </a:p>
      </dgm:t>
    </dgm:pt>
    <dgm:pt modelId="{66036E85-BB58-4595-B60D-58AA973B2914}" type="sibTrans" cxnId="{5F872A1C-A96F-4579-AC8D-AB742C3D3BB9}">
      <dgm:prSet/>
      <dgm:spPr/>
      <dgm:t>
        <a:bodyPr/>
        <a:lstStyle/>
        <a:p>
          <a:endParaRPr lang="en-US"/>
        </a:p>
      </dgm:t>
    </dgm:pt>
    <dgm:pt modelId="{31D225CA-88D8-4691-B77C-6AFCEE2D48C2}">
      <dgm:prSet phldrT="[Text]" custT="1"/>
      <dgm:spPr/>
      <dgm:t>
        <a:bodyPr/>
        <a:lstStyle/>
        <a:p>
          <a:endParaRPr lang="en-US" sz="1400" b="1" dirty="0"/>
        </a:p>
      </dgm:t>
    </dgm:pt>
    <dgm:pt modelId="{9CE155E9-668F-497C-9EAF-2ABF7D74D47E}" type="parTrans" cxnId="{327442F0-A19B-4C0C-9EC0-CB9D0138FFE9}">
      <dgm:prSet/>
      <dgm:spPr/>
      <dgm:t>
        <a:bodyPr/>
        <a:lstStyle/>
        <a:p>
          <a:endParaRPr lang="en-US"/>
        </a:p>
      </dgm:t>
    </dgm:pt>
    <dgm:pt modelId="{272BF7D7-B8C5-465F-A483-C56EB070D782}" type="sibTrans" cxnId="{327442F0-A19B-4C0C-9EC0-CB9D0138FFE9}">
      <dgm:prSet/>
      <dgm:spPr/>
      <dgm:t>
        <a:bodyPr/>
        <a:lstStyle/>
        <a:p>
          <a:endParaRPr lang="en-US"/>
        </a:p>
      </dgm:t>
    </dgm:pt>
    <dgm:pt modelId="{2813241B-2857-4E2B-A061-4A7BF901DAFB}" type="pres">
      <dgm:prSet presAssocID="{D7C4BCE5-B969-4BD1-841F-8DB091FDF6FC}" presName="Name0" presStyleCnt="0">
        <dgm:presLayoutVars>
          <dgm:dir/>
          <dgm:animLvl val="lvl"/>
          <dgm:resizeHandles val="exact"/>
        </dgm:presLayoutVars>
      </dgm:prSet>
      <dgm:spPr/>
    </dgm:pt>
    <dgm:pt modelId="{13B365BD-68E1-40C3-BEA1-E2E73599BE32}" type="pres">
      <dgm:prSet presAssocID="{23F1B00D-88CC-48DA-953F-BC5B285473AE}" presName="compositeNode" presStyleCnt="0">
        <dgm:presLayoutVars>
          <dgm:bulletEnabled val="1"/>
        </dgm:presLayoutVars>
      </dgm:prSet>
      <dgm:spPr/>
    </dgm:pt>
    <dgm:pt modelId="{5FF015E4-150A-416D-BCD6-FE7430FCDF55}" type="pres">
      <dgm:prSet presAssocID="{23F1B00D-88CC-48DA-953F-BC5B285473AE}" presName="bgRect" presStyleLbl="node1" presStyleIdx="0" presStyleCnt="2" custLinFactNeighborX="-1655" custLinFactNeighborY="86201"/>
      <dgm:spPr/>
    </dgm:pt>
    <dgm:pt modelId="{78FF04C0-F3C9-44E7-8A5A-A62D25748B2F}" type="pres">
      <dgm:prSet presAssocID="{23F1B00D-88CC-48DA-953F-BC5B285473AE}" presName="parentNode" presStyleLbl="node1" presStyleIdx="0" presStyleCnt="2">
        <dgm:presLayoutVars>
          <dgm:chMax val="0"/>
          <dgm:bulletEnabled val="1"/>
        </dgm:presLayoutVars>
      </dgm:prSet>
      <dgm:spPr/>
    </dgm:pt>
    <dgm:pt modelId="{9477D9E1-77BB-492E-A78D-96F8580AF949}" type="pres">
      <dgm:prSet presAssocID="{23F1B00D-88CC-48DA-953F-BC5B285473AE}" presName="childNode" presStyleLbl="node1" presStyleIdx="0" presStyleCnt="2">
        <dgm:presLayoutVars>
          <dgm:bulletEnabled val="1"/>
        </dgm:presLayoutVars>
      </dgm:prSet>
      <dgm:spPr/>
    </dgm:pt>
    <dgm:pt modelId="{5F378F0A-EFC9-4269-933A-4B3B38903770}" type="pres">
      <dgm:prSet presAssocID="{6493A559-075B-4BB7-834C-102DB5EFEA7F}" presName="hSp" presStyleCnt="0"/>
      <dgm:spPr/>
    </dgm:pt>
    <dgm:pt modelId="{EF738326-CBFE-4E7C-ABB4-23FC6BB26B72}" type="pres">
      <dgm:prSet presAssocID="{6493A559-075B-4BB7-834C-102DB5EFEA7F}" presName="vProcSp" presStyleCnt="0"/>
      <dgm:spPr/>
    </dgm:pt>
    <dgm:pt modelId="{0EDF0E25-5EEF-44DB-9938-2935BBD44B58}" type="pres">
      <dgm:prSet presAssocID="{6493A559-075B-4BB7-834C-102DB5EFEA7F}" presName="vSp1" presStyleCnt="0"/>
      <dgm:spPr/>
    </dgm:pt>
    <dgm:pt modelId="{A8FD4AA7-986F-4700-A0A3-DF06CEF6AC5D}" type="pres">
      <dgm:prSet presAssocID="{6493A559-075B-4BB7-834C-102DB5EFEA7F}" presName="simulatedConn" presStyleLbl="solidFgAcc1" presStyleIdx="0" presStyleCnt="1"/>
      <dgm:spPr/>
    </dgm:pt>
    <dgm:pt modelId="{94DEF344-5D56-4DBF-AAF9-0EC39C92010B}" type="pres">
      <dgm:prSet presAssocID="{6493A559-075B-4BB7-834C-102DB5EFEA7F}" presName="vSp2" presStyleCnt="0"/>
      <dgm:spPr/>
    </dgm:pt>
    <dgm:pt modelId="{B63EF002-7D62-46E2-BD65-974E3D4E166D}" type="pres">
      <dgm:prSet presAssocID="{6493A559-075B-4BB7-834C-102DB5EFEA7F}" presName="sibTrans" presStyleCnt="0"/>
      <dgm:spPr/>
    </dgm:pt>
    <dgm:pt modelId="{114FD7C4-7419-4C9B-8324-4A9E5FB5D0C7}" type="pres">
      <dgm:prSet presAssocID="{C9B9FC90-530F-4F53-8B64-94DB3173BA6D}" presName="compositeNode" presStyleCnt="0">
        <dgm:presLayoutVars>
          <dgm:bulletEnabled val="1"/>
        </dgm:presLayoutVars>
      </dgm:prSet>
      <dgm:spPr/>
    </dgm:pt>
    <dgm:pt modelId="{917D4BF0-B082-4DDB-8544-F2AABBA92996}" type="pres">
      <dgm:prSet presAssocID="{C9B9FC90-530F-4F53-8B64-94DB3173BA6D}" presName="bgRect" presStyleLbl="node1" presStyleIdx="1" presStyleCnt="2"/>
      <dgm:spPr/>
    </dgm:pt>
    <dgm:pt modelId="{99604C76-4406-4D42-B453-681E25C3EFFD}" type="pres">
      <dgm:prSet presAssocID="{C9B9FC90-530F-4F53-8B64-94DB3173BA6D}" presName="parentNode" presStyleLbl="node1" presStyleIdx="1" presStyleCnt="2">
        <dgm:presLayoutVars>
          <dgm:chMax val="0"/>
          <dgm:bulletEnabled val="1"/>
        </dgm:presLayoutVars>
      </dgm:prSet>
      <dgm:spPr/>
    </dgm:pt>
    <dgm:pt modelId="{2E78B2A3-2621-41C0-B867-6D0B52E6D51E}" type="pres">
      <dgm:prSet presAssocID="{C9B9FC90-530F-4F53-8B64-94DB3173BA6D}" presName="childNode" presStyleLbl="node1" presStyleIdx="1" presStyleCnt="2">
        <dgm:presLayoutVars>
          <dgm:bulletEnabled val="1"/>
        </dgm:presLayoutVars>
      </dgm:prSet>
      <dgm:spPr/>
    </dgm:pt>
  </dgm:ptLst>
  <dgm:cxnLst>
    <dgm:cxn modelId="{5F872A1C-A96F-4579-AC8D-AB742C3D3BB9}" srcId="{D7C4BCE5-B969-4BD1-841F-8DB091FDF6FC}" destId="{C9B9FC90-530F-4F53-8B64-94DB3173BA6D}" srcOrd="1" destOrd="0" parTransId="{74E5986F-24C8-4E56-82AE-F7ACE97CD8EE}" sibTransId="{66036E85-BB58-4595-B60D-58AA973B2914}"/>
    <dgm:cxn modelId="{C6B80A29-3F65-4A9F-A997-AA1D7A1494F9}" type="presOf" srcId="{C9B9FC90-530F-4F53-8B64-94DB3173BA6D}" destId="{917D4BF0-B082-4DDB-8544-F2AABBA92996}" srcOrd="0" destOrd="0" presId="urn:microsoft.com/office/officeart/2005/8/layout/hProcess7"/>
    <dgm:cxn modelId="{B577F52B-CFBD-4B9D-92FD-7F83935BA627}" type="presOf" srcId="{D7C4BCE5-B969-4BD1-841F-8DB091FDF6FC}" destId="{2813241B-2857-4E2B-A061-4A7BF901DAFB}" srcOrd="0" destOrd="0" presId="urn:microsoft.com/office/officeart/2005/8/layout/hProcess7"/>
    <dgm:cxn modelId="{BC46AB89-E99E-4B1D-B304-6E533D6050D1}" type="presOf" srcId="{C9B9FC90-530F-4F53-8B64-94DB3173BA6D}" destId="{99604C76-4406-4D42-B453-681E25C3EFFD}" srcOrd="1" destOrd="0" presId="urn:microsoft.com/office/officeart/2005/8/layout/hProcess7"/>
    <dgm:cxn modelId="{BA816596-3095-4C68-AA20-409E7C91E337}" type="presOf" srcId="{23F1B00D-88CC-48DA-953F-BC5B285473AE}" destId="{5FF015E4-150A-416D-BCD6-FE7430FCDF55}" srcOrd="0" destOrd="0" presId="urn:microsoft.com/office/officeart/2005/8/layout/hProcess7"/>
    <dgm:cxn modelId="{C8FAD59A-C1BF-46DA-A265-30BFACA2B1BB}" type="presOf" srcId="{23F1B00D-88CC-48DA-953F-BC5B285473AE}" destId="{78FF04C0-F3C9-44E7-8A5A-A62D25748B2F}" srcOrd="1" destOrd="0" presId="urn:microsoft.com/office/officeart/2005/8/layout/hProcess7"/>
    <dgm:cxn modelId="{7F265AA8-C9C3-49F6-B40E-47623F1096AD}" type="presOf" srcId="{9AFAC535-450F-4A4B-A6A9-40A7A663A5EF}" destId="{9477D9E1-77BB-492E-A78D-96F8580AF949}" srcOrd="0" destOrd="0" presId="urn:microsoft.com/office/officeart/2005/8/layout/hProcess7"/>
    <dgm:cxn modelId="{E32910B5-3504-407D-9A92-37497E79B27F}" srcId="{23F1B00D-88CC-48DA-953F-BC5B285473AE}" destId="{9AFAC535-450F-4A4B-A6A9-40A7A663A5EF}" srcOrd="0" destOrd="0" parTransId="{46D3EB7E-024A-41DA-80DE-23C1D4727F57}" sibTransId="{7E4E4315-84F3-405E-9053-56C68915AFE1}"/>
    <dgm:cxn modelId="{E85917C3-ED44-425D-950F-D6A8B298D6A0}" srcId="{D7C4BCE5-B969-4BD1-841F-8DB091FDF6FC}" destId="{23F1B00D-88CC-48DA-953F-BC5B285473AE}" srcOrd="0" destOrd="0" parTransId="{56BDCBB5-F47F-4066-87E5-4F644D8F3527}" sibTransId="{6493A559-075B-4BB7-834C-102DB5EFEA7F}"/>
    <dgm:cxn modelId="{0F5586D3-7AAF-40D3-8FE2-075F97DF1B9D}" type="presOf" srcId="{31D225CA-88D8-4691-B77C-6AFCEE2D48C2}" destId="{2E78B2A3-2621-41C0-B867-6D0B52E6D51E}" srcOrd="0" destOrd="0" presId="urn:microsoft.com/office/officeart/2005/8/layout/hProcess7"/>
    <dgm:cxn modelId="{327442F0-A19B-4C0C-9EC0-CB9D0138FFE9}" srcId="{C9B9FC90-530F-4F53-8B64-94DB3173BA6D}" destId="{31D225CA-88D8-4691-B77C-6AFCEE2D48C2}" srcOrd="0" destOrd="0" parTransId="{9CE155E9-668F-497C-9EAF-2ABF7D74D47E}" sibTransId="{272BF7D7-B8C5-465F-A483-C56EB070D782}"/>
    <dgm:cxn modelId="{E15540FB-010E-4B66-81D2-08B027E5B0D2}" type="presParOf" srcId="{2813241B-2857-4E2B-A061-4A7BF901DAFB}" destId="{13B365BD-68E1-40C3-BEA1-E2E73599BE32}" srcOrd="0" destOrd="0" presId="urn:microsoft.com/office/officeart/2005/8/layout/hProcess7"/>
    <dgm:cxn modelId="{F0A6BD4C-92EC-478B-B931-A058D2CCEC57}" type="presParOf" srcId="{13B365BD-68E1-40C3-BEA1-E2E73599BE32}" destId="{5FF015E4-150A-416D-BCD6-FE7430FCDF55}" srcOrd="0" destOrd="0" presId="urn:microsoft.com/office/officeart/2005/8/layout/hProcess7"/>
    <dgm:cxn modelId="{FDD653AC-7F71-49C0-8C85-AEF8E779F0BB}" type="presParOf" srcId="{13B365BD-68E1-40C3-BEA1-E2E73599BE32}" destId="{78FF04C0-F3C9-44E7-8A5A-A62D25748B2F}" srcOrd="1" destOrd="0" presId="urn:microsoft.com/office/officeart/2005/8/layout/hProcess7"/>
    <dgm:cxn modelId="{9643F2C7-3441-47CB-A7C7-02A183F3CBEC}" type="presParOf" srcId="{13B365BD-68E1-40C3-BEA1-E2E73599BE32}" destId="{9477D9E1-77BB-492E-A78D-96F8580AF949}" srcOrd="2" destOrd="0" presId="urn:microsoft.com/office/officeart/2005/8/layout/hProcess7"/>
    <dgm:cxn modelId="{15AFC19C-3C2D-488C-BAC1-B0DCF30E144C}" type="presParOf" srcId="{2813241B-2857-4E2B-A061-4A7BF901DAFB}" destId="{5F378F0A-EFC9-4269-933A-4B3B38903770}" srcOrd="1" destOrd="0" presId="urn:microsoft.com/office/officeart/2005/8/layout/hProcess7"/>
    <dgm:cxn modelId="{102A65DD-D12C-4DE4-B95E-1B05566AFC73}" type="presParOf" srcId="{2813241B-2857-4E2B-A061-4A7BF901DAFB}" destId="{EF738326-CBFE-4E7C-ABB4-23FC6BB26B72}" srcOrd="2" destOrd="0" presId="urn:microsoft.com/office/officeart/2005/8/layout/hProcess7"/>
    <dgm:cxn modelId="{D96127A4-2BFB-48A8-B198-B2B31086BDD9}" type="presParOf" srcId="{EF738326-CBFE-4E7C-ABB4-23FC6BB26B72}" destId="{0EDF0E25-5EEF-44DB-9938-2935BBD44B58}" srcOrd="0" destOrd="0" presId="urn:microsoft.com/office/officeart/2005/8/layout/hProcess7"/>
    <dgm:cxn modelId="{BA4E4A3E-9A1E-4FBA-A691-0C1DA66DEE6E}" type="presParOf" srcId="{EF738326-CBFE-4E7C-ABB4-23FC6BB26B72}" destId="{A8FD4AA7-986F-4700-A0A3-DF06CEF6AC5D}" srcOrd="1" destOrd="0" presId="urn:microsoft.com/office/officeart/2005/8/layout/hProcess7"/>
    <dgm:cxn modelId="{FB34E5C5-C6EB-4555-801B-FD63A5B67BDA}" type="presParOf" srcId="{EF738326-CBFE-4E7C-ABB4-23FC6BB26B72}" destId="{94DEF344-5D56-4DBF-AAF9-0EC39C92010B}" srcOrd="2" destOrd="0" presId="urn:microsoft.com/office/officeart/2005/8/layout/hProcess7"/>
    <dgm:cxn modelId="{D8289B93-56D5-4ED9-B3E1-4695D0127DC0}" type="presParOf" srcId="{2813241B-2857-4E2B-A061-4A7BF901DAFB}" destId="{B63EF002-7D62-46E2-BD65-974E3D4E166D}" srcOrd="3" destOrd="0" presId="urn:microsoft.com/office/officeart/2005/8/layout/hProcess7"/>
    <dgm:cxn modelId="{F9269F03-BDB4-4E90-8495-E9D339258562}" type="presParOf" srcId="{2813241B-2857-4E2B-A061-4A7BF901DAFB}" destId="{114FD7C4-7419-4C9B-8324-4A9E5FB5D0C7}" srcOrd="4" destOrd="0" presId="urn:microsoft.com/office/officeart/2005/8/layout/hProcess7"/>
    <dgm:cxn modelId="{342775F1-EA28-4495-9F18-C2EC651158F7}" type="presParOf" srcId="{114FD7C4-7419-4C9B-8324-4A9E5FB5D0C7}" destId="{917D4BF0-B082-4DDB-8544-F2AABBA92996}" srcOrd="0" destOrd="0" presId="urn:microsoft.com/office/officeart/2005/8/layout/hProcess7"/>
    <dgm:cxn modelId="{AF36C190-90EF-4267-B1C6-0D39465217AC}" type="presParOf" srcId="{114FD7C4-7419-4C9B-8324-4A9E5FB5D0C7}" destId="{99604C76-4406-4D42-B453-681E25C3EFFD}" srcOrd="1" destOrd="0" presId="urn:microsoft.com/office/officeart/2005/8/layout/hProcess7"/>
    <dgm:cxn modelId="{77DA8310-C411-4FF6-B523-80444ADA4E1C}" type="presParOf" srcId="{114FD7C4-7419-4C9B-8324-4A9E5FB5D0C7}" destId="{2E78B2A3-2621-41C0-B867-6D0B52E6D51E}" srcOrd="2" destOrd="0" presId="urn:microsoft.com/office/officeart/2005/8/layout/hProcess7"/>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7C4BCE5-B969-4BD1-841F-8DB091FDF6FC}" type="doc">
      <dgm:prSet loTypeId="urn:microsoft.com/office/officeart/2005/8/layout/hProcess7" loCatId="process" qsTypeId="urn:microsoft.com/office/officeart/2005/8/quickstyle/simple1" qsCatId="simple" csTypeId="urn:microsoft.com/office/officeart/2005/8/colors/accent6_2" csCatId="accent6" phldr="1"/>
      <dgm:spPr/>
      <dgm:t>
        <a:bodyPr/>
        <a:lstStyle/>
        <a:p>
          <a:endParaRPr lang="en-US"/>
        </a:p>
      </dgm:t>
    </dgm:pt>
    <dgm:pt modelId="{23F1B00D-88CC-48DA-953F-BC5B285473AE}">
      <dgm:prSet phldrT="[Text]"/>
      <dgm:spPr/>
      <dgm:t>
        <a:bodyPr/>
        <a:lstStyle/>
        <a:p>
          <a:r>
            <a:rPr lang="es-CR" dirty="0" err="1"/>
            <a:t>Objective</a:t>
          </a:r>
          <a:endParaRPr lang="en-US" dirty="0"/>
        </a:p>
      </dgm:t>
    </dgm:pt>
    <dgm:pt modelId="{56BDCBB5-F47F-4066-87E5-4F644D8F3527}" type="parTrans" cxnId="{E85917C3-ED44-425D-950F-D6A8B298D6A0}">
      <dgm:prSet/>
      <dgm:spPr/>
      <dgm:t>
        <a:bodyPr/>
        <a:lstStyle/>
        <a:p>
          <a:endParaRPr lang="en-US"/>
        </a:p>
      </dgm:t>
    </dgm:pt>
    <dgm:pt modelId="{6493A559-075B-4BB7-834C-102DB5EFEA7F}" type="sibTrans" cxnId="{E85917C3-ED44-425D-950F-D6A8B298D6A0}">
      <dgm:prSet/>
      <dgm:spPr/>
      <dgm:t>
        <a:bodyPr/>
        <a:lstStyle/>
        <a:p>
          <a:endParaRPr lang="en-US"/>
        </a:p>
      </dgm:t>
    </dgm:pt>
    <dgm:pt modelId="{9AFAC535-450F-4A4B-A6A9-40A7A663A5EF}">
      <dgm:prSet phldrT="[Text]" custT="1"/>
      <dgm:spPr/>
      <dgm:t>
        <a:bodyPr/>
        <a:lstStyle/>
        <a:p>
          <a:pPr>
            <a:buNone/>
          </a:pPr>
          <a:r>
            <a:rPr lang="en-US" sz="1200" dirty="0"/>
            <a:t>Display the average total sales per customer, highlighting the top customers those who have made the most significant purchases.</a:t>
          </a:r>
          <a:endParaRPr lang="en-US" sz="1200" b="1" dirty="0"/>
        </a:p>
      </dgm:t>
    </dgm:pt>
    <dgm:pt modelId="{46D3EB7E-024A-41DA-80DE-23C1D4727F57}" type="parTrans" cxnId="{E32910B5-3504-407D-9A92-37497E79B27F}">
      <dgm:prSet/>
      <dgm:spPr/>
      <dgm:t>
        <a:bodyPr/>
        <a:lstStyle/>
        <a:p>
          <a:endParaRPr lang="en-US"/>
        </a:p>
      </dgm:t>
    </dgm:pt>
    <dgm:pt modelId="{7E4E4315-84F3-405E-9053-56C68915AFE1}" type="sibTrans" cxnId="{E32910B5-3504-407D-9A92-37497E79B27F}">
      <dgm:prSet/>
      <dgm:spPr/>
      <dgm:t>
        <a:bodyPr/>
        <a:lstStyle/>
        <a:p>
          <a:endParaRPr lang="en-US"/>
        </a:p>
      </dgm:t>
    </dgm:pt>
    <dgm:pt modelId="{C9B9FC90-530F-4F53-8B64-94DB3173BA6D}">
      <dgm:prSet phldrT="[Text]"/>
      <dgm:spPr/>
      <dgm:t>
        <a:bodyPr/>
        <a:lstStyle/>
        <a:p>
          <a:r>
            <a:rPr lang="en-US" dirty="0"/>
            <a:t>Success Criteria</a:t>
          </a:r>
        </a:p>
      </dgm:t>
    </dgm:pt>
    <dgm:pt modelId="{74E5986F-24C8-4E56-82AE-F7ACE97CD8EE}" type="parTrans" cxnId="{5F872A1C-A96F-4579-AC8D-AB742C3D3BB9}">
      <dgm:prSet/>
      <dgm:spPr/>
      <dgm:t>
        <a:bodyPr/>
        <a:lstStyle/>
        <a:p>
          <a:endParaRPr lang="en-US"/>
        </a:p>
      </dgm:t>
    </dgm:pt>
    <dgm:pt modelId="{66036E85-BB58-4595-B60D-58AA973B2914}" type="sibTrans" cxnId="{5F872A1C-A96F-4579-AC8D-AB742C3D3BB9}">
      <dgm:prSet/>
      <dgm:spPr/>
      <dgm:t>
        <a:bodyPr/>
        <a:lstStyle/>
        <a:p>
          <a:endParaRPr lang="en-US"/>
        </a:p>
      </dgm:t>
    </dgm:pt>
    <dgm:pt modelId="{31D225CA-88D8-4691-B77C-6AFCEE2D48C2}">
      <dgm:prSet phldrT="[Text]" custT="1"/>
      <dgm:spPr/>
      <dgm:t>
        <a:bodyPr/>
        <a:lstStyle/>
        <a:p>
          <a:endParaRPr lang="en-US" sz="1400" b="1" dirty="0"/>
        </a:p>
      </dgm:t>
    </dgm:pt>
    <dgm:pt modelId="{9CE155E9-668F-497C-9EAF-2ABF7D74D47E}" type="parTrans" cxnId="{327442F0-A19B-4C0C-9EC0-CB9D0138FFE9}">
      <dgm:prSet/>
      <dgm:spPr/>
      <dgm:t>
        <a:bodyPr/>
        <a:lstStyle/>
        <a:p>
          <a:endParaRPr lang="en-US"/>
        </a:p>
      </dgm:t>
    </dgm:pt>
    <dgm:pt modelId="{272BF7D7-B8C5-465F-A483-C56EB070D782}" type="sibTrans" cxnId="{327442F0-A19B-4C0C-9EC0-CB9D0138FFE9}">
      <dgm:prSet/>
      <dgm:spPr/>
      <dgm:t>
        <a:bodyPr/>
        <a:lstStyle/>
        <a:p>
          <a:endParaRPr lang="en-US"/>
        </a:p>
      </dgm:t>
    </dgm:pt>
    <dgm:pt modelId="{2813241B-2857-4E2B-A061-4A7BF901DAFB}" type="pres">
      <dgm:prSet presAssocID="{D7C4BCE5-B969-4BD1-841F-8DB091FDF6FC}" presName="Name0" presStyleCnt="0">
        <dgm:presLayoutVars>
          <dgm:dir/>
          <dgm:animLvl val="lvl"/>
          <dgm:resizeHandles val="exact"/>
        </dgm:presLayoutVars>
      </dgm:prSet>
      <dgm:spPr/>
    </dgm:pt>
    <dgm:pt modelId="{13B365BD-68E1-40C3-BEA1-E2E73599BE32}" type="pres">
      <dgm:prSet presAssocID="{23F1B00D-88CC-48DA-953F-BC5B285473AE}" presName="compositeNode" presStyleCnt="0">
        <dgm:presLayoutVars>
          <dgm:bulletEnabled val="1"/>
        </dgm:presLayoutVars>
      </dgm:prSet>
      <dgm:spPr/>
    </dgm:pt>
    <dgm:pt modelId="{5FF015E4-150A-416D-BCD6-FE7430FCDF55}" type="pres">
      <dgm:prSet presAssocID="{23F1B00D-88CC-48DA-953F-BC5B285473AE}" presName="bgRect" presStyleLbl="node1" presStyleIdx="0" presStyleCnt="2" custLinFactNeighborX="-1655" custLinFactNeighborY="86201"/>
      <dgm:spPr/>
    </dgm:pt>
    <dgm:pt modelId="{78FF04C0-F3C9-44E7-8A5A-A62D25748B2F}" type="pres">
      <dgm:prSet presAssocID="{23F1B00D-88CC-48DA-953F-BC5B285473AE}" presName="parentNode" presStyleLbl="node1" presStyleIdx="0" presStyleCnt="2">
        <dgm:presLayoutVars>
          <dgm:chMax val="0"/>
          <dgm:bulletEnabled val="1"/>
        </dgm:presLayoutVars>
      </dgm:prSet>
      <dgm:spPr/>
    </dgm:pt>
    <dgm:pt modelId="{9477D9E1-77BB-492E-A78D-96F8580AF949}" type="pres">
      <dgm:prSet presAssocID="{23F1B00D-88CC-48DA-953F-BC5B285473AE}" presName="childNode" presStyleLbl="node1" presStyleIdx="0" presStyleCnt="2">
        <dgm:presLayoutVars>
          <dgm:bulletEnabled val="1"/>
        </dgm:presLayoutVars>
      </dgm:prSet>
      <dgm:spPr/>
    </dgm:pt>
    <dgm:pt modelId="{5F378F0A-EFC9-4269-933A-4B3B38903770}" type="pres">
      <dgm:prSet presAssocID="{6493A559-075B-4BB7-834C-102DB5EFEA7F}" presName="hSp" presStyleCnt="0"/>
      <dgm:spPr/>
    </dgm:pt>
    <dgm:pt modelId="{EF738326-CBFE-4E7C-ABB4-23FC6BB26B72}" type="pres">
      <dgm:prSet presAssocID="{6493A559-075B-4BB7-834C-102DB5EFEA7F}" presName="vProcSp" presStyleCnt="0"/>
      <dgm:spPr/>
    </dgm:pt>
    <dgm:pt modelId="{0EDF0E25-5EEF-44DB-9938-2935BBD44B58}" type="pres">
      <dgm:prSet presAssocID="{6493A559-075B-4BB7-834C-102DB5EFEA7F}" presName="vSp1" presStyleCnt="0"/>
      <dgm:spPr/>
    </dgm:pt>
    <dgm:pt modelId="{A8FD4AA7-986F-4700-A0A3-DF06CEF6AC5D}" type="pres">
      <dgm:prSet presAssocID="{6493A559-075B-4BB7-834C-102DB5EFEA7F}" presName="simulatedConn" presStyleLbl="solidFgAcc1" presStyleIdx="0" presStyleCnt="1"/>
      <dgm:spPr/>
    </dgm:pt>
    <dgm:pt modelId="{94DEF344-5D56-4DBF-AAF9-0EC39C92010B}" type="pres">
      <dgm:prSet presAssocID="{6493A559-075B-4BB7-834C-102DB5EFEA7F}" presName="vSp2" presStyleCnt="0"/>
      <dgm:spPr/>
    </dgm:pt>
    <dgm:pt modelId="{B63EF002-7D62-46E2-BD65-974E3D4E166D}" type="pres">
      <dgm:prSet presAssocID="{6493A559-075B-4BB7-834C-102DB5EFEA7F}" presName="sibTrans" presStyleCnt="0"/>
      <dgm:spPr/>
    </dgm:pt>
    <dgm:pt modelId="{114FD7C4-7419-4C9B-8324-4A9E5FB5D0C7}" type="pres">
      <dgm:prSet presAssocID="{C9B9FC90-530F-4F53-8B64-94DB3173BA6D}" presName="compositeNode" presStyleCnt="0">
        <dgm:presLayoutVars>
          <dgm:bulletEnabled val="1"/>
        </dgm:presLayoutVars>
      </dgm:prSet>
      <dgm:spPr/>
    </dgm:pt>
    <dgm:pt modelId="{917D4BF0-B082-4DDB-8544-F2AABBA92996}" type="pres">
      <dgm:prSet presAssocID="{C9B9FC90-530F-4F53-8B64-94DB3173BA6D}" presName="bgRect" presStyleLbl="node1" presStyleIdx="1" presStyleCnt="2"/>
      <dgm:spPr/>
    </dgm:pt>
    <dgm:pt modelId="{99604C76-4406-4D42-B453-681E25C3EFFD}" type="pres">
      <dgm:prSet presAssocID="{C9B9FC90-530F-4F53-8B64-94DB3173BA6D}" presName="parentNode" presStyleLbl="node1" presStyleIdx="1" presStyleCnt="2">
        <dgm:presLayoutVars>
          <dgm:chMax val="0"/>
          <dgm:bulletEnabled val="1"/>
        </dgm:presLayoutVars>
      </dgm:prSet>
      <dgm:spPr/>
    </dgm:pt>
    <dgm:pt modelId="{2E78B2A3-2621-41C0-B867-6D0B52E6D51E}" type="pres">
      <dgm:prSet presAssocID="{C9B9FC90-530F-4F53-8B64-94DB3173BA6D}" presName="childNode" presStyleLbl="node1" presStyleIdx="1" presStyleCnt="2">
        <dgm:presLayoutVars>
          <dgm:bulletEnabled val="1"/>
        </dgm:presLayoutVars>
      </dgm:prSet>
      <dgm:spPr/>
    </dgm:pt>
  </dgm:ptLst>
  <dgm:cxnLst>
    <dgm:cxn modelId="{5F872A1C-A96F-4579-AC8D-AB742C3D3BB9}" srcId="{D7C4BCE5-B969-4BD1-841F-8DB091FDF6FC}" destId="{C9B9FC90-530F-4F53-8B64-94DB3173BA6D}" srcOrd="1" destOrd="0" parTransId="{74E5986F-24C8-4E56-82AE-F7ACE97CD8EE}" sibTransId="{66036E85-BB58-4595-B60D-58AA973B2914}"/>
    <dgm:cxn modelId="{C6B80A29-3F65-4A9F-A997-AA1D7A1494F9}" type="presOf" srcId="{C9B9FC90-530F-4F53-8B64-94DB3173BA6D}" destId="{917D4BF0-B082-4DDB-8544-F2AABBA92996}" srcOrd="0" destOrd="0" presId="urn:microsoft.com/office/officeart/2005/8/layout/hProcess7"/>
    <dgm:cxn modelId="{B577F52B-CFBD-4B9D-92FD-7F83935BA627}" type="presOf" srcId="{D7C4BCE5-B969-4BD1-841F-8DB091FDF6FC}" destId="{2813241B-2857-4E2B-A061-4A7BF901DAFB}" srcOrd="0" destOrd="0" presId="urn:microsoft.com/office/officeart/2005/8/layout/hProcess7"/>
    <dgm:cxn modelId="{BC46AB89-E99E-4B1D-B304-6E533D6050D1}" type="presOf" srcId="{C9B9FC90-530F-4F53-8B64-94DB3173BA6D}" destId="{99604C76-4406-4D42-B453-681E25C3EFFD}" srcOrd="1" destOrd="0" presId="urn:microsoft.com/office/officeart/2005/8/layout/hProcess7"/>
    <dgm:cxn modelId="{BA816596-3095-4C68-AA20-409E7C91E337}" type="presOf" srcId="{23F1B00D-88CC-48DA-953F-BC5B285473AE}" destId="{5FF015E4-150A-416D-BCD6-FE7430FCDF55}" srcOrd="0" destOrd="0" presId="urn:microsoft.com/office/officeart/2005/8/layout/hProcess7"/>
    <dgm:cxn modelId="{C8FAD59A-C1BF-46DA-A265-30BFACA2B1BB}" type="presOf" srcId="{23F1B00D-88CC-48DA-953F-BC5B285473AE}" destId="{78FF04C0-F3C9-44E7-8A5A-A62D25748B2F}" srcOrd="1" destOrd="0" presId="urn:microsoft.com/office/officeart/2005/8/layout/hProcess7"/>
    <dgm:cxn modelId="{7F265AA8-C9C3-49F6-B40E-47623F1096AD}" type="presOf" srcId="{9AFAC535-450F-4A4B-A6A9-40A7A663A5EF}" destId="{9477D9E1-77BB-492E-A78D-96F8580AF949}" srcOrd="0" destOrd="0" presId="urn:microsoft.com/office/officeart/2005/8/layout/hProcess7"/>
    <dgm:cxn modelId="{E32910B5-3504-407D-9A92-37497E79B27F}" srcId="{23F1B00D-88CC-48DA-953F-BC5B285473AE}" destId="{9AFAC535-450F-4A4B-A6A9-40A7A663A5EF}" srcOrd="0" destOrd="0" parTransId="{46D3EB7E-024A-41DA-80DE-23C1D4727F57}" sibTransId="{7E4E4315-84F3-405E-9053-56C68915AFE1}"/>
    <dgm:cxn modelId="{E85917C3-ED44-425D-950F-D6A8B298D6A0}" srcId="{D7C4BCE5-B969-4BD1-841F-8DB091FDF6FC}" destId="{23F1B00D-88CC-48DA-953F-BC5B285473AE}" srcOrd="0" destOrd="0" parTransId="{56BDCBB5-F47F-4066-87E5-4F644D8F3527}" sibTransId="{6493A559-075B-4BB7-834C-102DB5EFEA7F}"/>
    <dgm:cxn modelId="{0F5586D3-7AAF-40D3-8FE2-075F97DF1B9D}" type="presOf" srcId="{31D225CA-88D8-4691-B77C-6AFCEE2D48C2}" destId="{2E78B2A3-2621-41C0-B867-6D0B52E6D51E}" srcOrd="0" destOrd="0" presId="urn:microsoft.com/office/officeart/2005/8/layout/hProcess7"/>
    <dgm:cxn modelId="{327442F0-A19B-4C0C-9EC0-CB9D0138FFE9}" srcId="{C9B9FC90-530F-4F53-8B64-94DB3173BA6D}" destId="{31D225CA-88D8-4691-B77C-6AFCEE2D48C2}" srcOrd="0" destOrd="0" parTransId="{9CE155E9-668F-497C-9EAF-2ABF7D74D47E}" sibTransId="{272BF7D7-B8C5-465F-A483-C56EB070D782}"/>
    <dgm:cxn modelId="{E15540FB-010E-4B66-81D2-08B027E5B0D2}" type="presParOf" srcId="{2813241B-2857-4E2B-A061-4A7BF901DAFB}" destId="{13B365BD-68E1-40C3-BEA1-E2E73599BE32}" srcOrd="0" destOrd="0" presId="urn:microsoft.com/office/officeart/2005/8/layout/hProcess7"/>
    <dgm:cxn modelId="{F0A6BD4C-92EC-478B-B931-A058D2CCEC57}" type="presParOf" srcId="{13B365BD-68E1-40C3-BEA1-E2E73599BE32}" destId="{5FF015E4-150A-416D-BCD6-FE7430FCDF55}" srcOrd="0" destOrd="0" presId="urn:microsoft.com/office/officeart/2005/8/layout/hProcess7"/>
    <dgm:cxn modelId="{FDD653AC-7F71-49C0-8C85-AEF8E779F0BB}" type="presParOf" srcId="{13B365BD-68E1-40C3-BEA1-E2E73599BE32}" destId="{78FF04C0-F3C9-44E7-8A5A-A62D25748B2F}" srcOrd="1" destOrd="0" presId="urn:microsoft.com/office/officeart/2005/8/layout/hProcess7"/>
    <dgm:cxn modelId="{9643F2C7-3441-47CB-A7C7-02A183F3CBEC}" type="presParOf" srcId="{13B365BD-68E1-40C3-BEA1-E2E73599BE32}" destId="{9477D9E1-77BB-492E-A78D-96F8580AF949}" srcOrd="2" destOrd="0" presId="urn:microsoft.com/office/officeart/2005/8/layout/hProcess7"/>
    <dgm:cxn modelId="{15AFC19C-3C2D-488C-BAC1-B0DCF30E144C}" type="presParOf" srcId="{2813241B-2857-4E2B-A061-4A7BF901DAFB}" destId="{5F378F0A-EFC9-4269-933A-4B3B38903770}" srcOrd="1" destOrd="0" presId="urn:microsoft.com/office/officeart/2005/8/layout/hProcess7"/>
    <dgm:cxn modelId="{102A65DD-D12C-4DE4-B95E-1B05566AFC73}" type="presParOf" srcId="{2813241B-2857-4E2B-A061-4A7BF901DAFB}" destId="{EF738326-CBFE-4E7C-ABB4-23FC6BB26B72}" srcOrd="2" destOrd="0" presId="urn:microsoft.com/office/officeart/2005/8/layout/hProcess7"/>
    <dgm:cxn modelId="{D96127A4-2BFB-48A8-B198-B2B31086BDD9}" type="presParOf" srcId="{EF738326-CBFE-4E7C-ABB4-23FC6BB26B72}" destId="{0EDF0E25-5EEF-44DB-9938-2935BBD44B58}" srcOrd="0" destOrd="0" presId="urn:microsoft.com/office/officeart/2005/8/layout/hProcess7"/>
    <dgm:cxn modelId="{BA4E4A3E-9A1E-4FBA-A691-0C1DA66DEE6E}" type="presParOf" srcId="{EF738326-CBFE-4E7C-ABB4-23FC6BB26B72}" destId="{A8FD4AA7-986F-4700-A0A3-DF06CEF6AC5D}" srcOrd="1" destOrd="0" presId="urn:microsoft.com/office/officeart/2005/8/layout/hProcess7"/>
    <dgm:cxn modelId="{FB34E5C5-C6EB-4555-801B-FD63A5B67BDA}" type="presParOf" srcId="{EF738326-CBFE-4E7C-ABB4-23FC6BB26B72}" destId="{94DEF344-5D56-4DBF-AAF9-0EC39C92010B}" srcOrd="2" destOrd="0" presId="urn:microsoft.com/office/officeart/2005/8/layout/hProcess7"/>
    <dgm:cxn modelId="{D8289B93-56D5-4ED9-B3E1-4695D0127DC0}" type="presParOf" srcId="{2813241B-2857-4E2B-A061-4A7BF901DAFB}" destId="{B63EF002-7D62-46E2-BD65-974E3D4E166D}" srcOrd="3" destOrd="0" presId="urn:microsoft.com/office/officeart/2005/8/layout/hProcess7"/>
    <dgm:cxn modelId="{F9269F03-BDB4-4E90-8495-E9D339258562}" type="presParOf" srcId="{2813241B-2857-4E2B-A061-4A7BF901DAFB}" destId="{114FD7C4-7419-4C9B-8324-4A9E5FB5D0C7}" srcOrd="4" destOrd="0" presId="urn:microsoft.com/office/officeart/2005/8/layout/hProcess7"/>
    <dgm:cxn modelId="{342775F1-EA28-4495-9F18-C2EC651158F7}" type="presParOf" srcId="{114FD7C4-7419-4C9B-8324-4A9E5FB5D0C7}" destId="{917D4BF0-B082-4DDB-8544-F2AABBA92996}" srcOrd="0" destOrd="0" presId="urn:microsoft.com/office/officeart/2005/8/layout/hProcess7"/>
    <dgm:cxn modelId="{AF36C190-90EF-4267-B1C6-0D39465217AC}" type="presParOf" srcId="{114FD7C4-7419-4C9B-8324-4A9E5FB5D0C7}" destId="{99604C76-4406-4D42-B453-681E25C3EFFD}" srcOrd="1" destOrd="0" presId="urn:microsoft.com/office/officeart/2005/8/layout/hProcess7"/>
    <dgm:cxn modelId="{77DA8310-C411-4FF6-B523-80444ADA4E1C}" type="presParOf" srcId="{114FD7C4-7419-4C9B-8324-4A9E5FB5D0C7}" destId="{2E78B2A3-2621-41C0-B867-6D0B52E6D51E}" srcOrd="2" destOrd="0" presId="urn:microsoft.com/office/officeart/2005/8/layout/hProcess7"/>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AFB7F2-8145-4DFE-9A22-2C63B78CC4AB}">
      <dsp:nvSpPr>
        <dsp:cNvPr id="0" name=""/>
        <dsp:cNvSpPr/>
      </dsp:nvSpPr>
      <dsp:spPr>
        <a:xfrm>
          <a:off x="3092889" y="-3028"/>
          <a:ext cx="4329820" cy="4329820"/>
        </a:xfrm>
        <a:prstGeom prst="circularArrow">
          <a:avLst>
            <a:gd name="adj1" fmla="val 5274"/>
            <a:gd name="adj2" fmla="val 312630"/>
            <a:gd name="adj3" fmla="val 14203897"/>
            <a:gd name="adj4" fmla="val 17141214"/>
            <a:gd name="adj5" fmla="val 5477"/>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5F3D3A-9F7F-4D35-B763-4C97D9417873}">
      <dsp:nvSpPr>
        <dsp:cNvPr id="0" name=""/>
        <dsp:cNvSpPr/>
      </dsp:nvSpPr>
      <dsp:spPr>
        <a:xfrm>
          <a:off x="4423432" y="1965"/>
          <a:ext cx="1668735" cy="83436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CR" sz="1700" kern="1200" dirty="0"/>
            <a:t>1</a:t>
          </a:r>
          <a:r>
            <a:rPr lang="en-US" sz="1700" kern="1200" dirty="0"/>
            <a:t>-Business Understanding</a:t>
          </a:r>
        </a:p>
      </dsp:txBody>
      <dsp:txXfrm>
        <a:off x="4464162" y="42695"/>
        <a:ext cx="1587275" cy="752907"/>
      </dsp:txXfrm>
    </dsp:sp>
    <dsp:sp modelId="{70CED6F8-57A4-42E4-AB1D-AD2DF3D807C6}">
      <dsp:nvSpPr>
        <dsp:cNvPr id="0" name=""/>
        <dsp:cNvSpPr/>
      </dsp:nvSpPr>
      <dsp:spPr>
        <a:xfrm>
          <a:off x="5944622" y="880225"/>
          <a:ext cx="1668735" cy="834367"/>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 Data Understanding</a:t>
          </a:r>
        </a:p>
      </dsp:txBody>
      <dsp:txXfrm>
        <a:off x="5985352" y="920955"/>
        <a:ext cx="1587275" cy="752907"/>
      </dsp:txXfrm>
    </dsp:sp>
    <dsp:sp modelId="{F175B319-A701-48A8-A4E4-C57368A41759}">
      <dsp:nvSpPr>
        <dsp:cNvPr id="0" name=""/>
        <dsp:cNvSpPr/>
      </dsp:nvSpPr>
      <dsp:spPr>
        <a:xfrm>
          <a:off x="5944622" y="2636744"/>
          <a:ext cx="1668735" cy="834367"/>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3- Data Preparation </a:t>
          </a:r>
        </a:p>
      </dsp:txBody>
      <dsp:txXfrm>
        <a:off x="5985352" y="2677474"/>
        <a:ext cx="1587275" cy="752907"/>
      </dsp:txXfrm>
    </dsp:sp>
    <dsp:sp modelId="{9FDEC665-C2AA-4616-A8B1-D5C8A4139A46}">
      <dsp:nvSpPr>
        <dsp:cNvPr id="0" name=""/>
        <dsp:cNvSpPr/>
      </dsp:nvSpPr>
      <dsp:spPr>
        <a:xfrm>
          <a:off x="4423432" y="3515004"/>
          <a:ext cx="1668735" cy="834367"/>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4- Modeling</a:t>
          </a:r>
        </a:p>
      </dsp:txBody>
      <dsp:txXfrm>
        <a:off x="4464162" y="3555734"/>
        <a:ext cx="1587275" cy="752907"/>
      </dsp:txXfrm>
    </dsp:sp>
    <dsp:sp modelId="{3255330B-598C-4795-BC07-593FCD6B35AA}">
      <dsp:nvSpPr>
        <dsp:cNvPr id="0" name=""/>
        <dsp:cNvSpPr/>
      </dsp:nvSpPr>
      <dsp:spPr>
        <a:xfrm>
          <a:off x="2902241" y="2636744"/>
          <a:ext cx="1668735" cy="834367"/>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5- Evaluation </a:t>
          </a:r>
        </a:p>
      </dsp:txBody>
      <dsp:txXfrm>
        <a:off x="2942971" y="2677474"/>
        <a:ext cx="1587275" cy="752907"/>
      </dsp:txXfrm>
    </dsp:sp>
    <dsp:sp modelId="{DD4C9D6F-443C-4490-933B-EC6D18A6F158}">
      <dsp:nvSpPr>
        <dsp:cNvPr id="0" name=""/>
        <dsp:cNvSpPr/>
      </dsp:nvSpPr>
      <dsp:spPr>
        <a:xfrm>
          <a:off x="2902241" y="880225"/>
          <a:ext cx="1668735" cy="83436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6-Deployment</a:t>
          </a:r>
        </a:p>
      </dsp:txBody>
      <dsp:txXfrm>
        <a:off x="2942971" y="920955"/>
        <a:ext cx="1587275" cy="7529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F015E4-150A-416D-BCD6-FE7430FCDF55}">
      <dsp:nvSpPr>
        <dsp:cNvPr id="0" name=""/>
        <dsp:cNvSpPr/>
      </dsp:nvSpPr>
      <dsp:spPr>
        <a:xfrm>
          <a:off x="7" y="0"/>
          <a:ext cx="2829004" cy="1104388"/>
        </a:xfrm>
        <a:prstGeom prst="roundRect">
          <a:avLst>
            <a:gd name="adj" fmla="val 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51435" rIns="66675" bIns="0" numCol="1" spcCol="1270" anchor="t" anchorCtr="0">
          <a:noAutofit/>
        </a:bodyPr>
        <a:lstStyle/>
        <a:p>
          <a:pPr marL="0" lvl="0" indent="0" algn="r" defTabSz="666750">
            <a:lnSpc>
              <a:spcPct val="90000"/>
            </a:lnSpc>
            <a:spcBef>
              <a:spcPct val="0"/>
            </a:spcBef>
            <a:spcAft>
              <a:spcPct val="35000"/>
            </a:spcAft>
            <a:buNone/>
          </a:pPr>
          <a:r>
            <a:rPr lang="es-CR" sz="1500" kern="1200" dirty="0" err="1"/>
            <a:t>Objective</a:t>
          </a:r>
          <a:endParaRPr lang="en-US" sz="1500" kern="1200" dirty="0"/>
        </a:p>
      </dsp:txBody>
      <dsp:txXfrm rot="16200000">
        <a:off x="-169891" y="169898"/>
        <a:ext cx="905598" cy="565800"/>
      </dsp:txXfrm>
    </dsp:sp>
    <dsp:sp modelId="{9477D9E1-77BB-492E-A78D-96F8580AF949}">
      <dsp:nvSpPr>
        <dsp:cNvPr id="0" name=""/>
        <dsp:cNvSpPr/>
      </dsp:nvSpPr>
      <dsp:spPr>
        <a:xfrm>
          <a:off x="565808" y="0"/>
          <a:ext cx="2107608" cy="11043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8006" rIns="0" bIns="0" numCol="1" spcCol="1270" anchor="t" anchorCtr="0">
          <a:noAutofit/>
        </a:bodyPr>
        <a:lstStyle/>
        <a:p>
          <a:pPr marL="0" lvl="0" indent="0" algn="l" defTabSz="622300">
            <a:lnSpc>
              <a:spcPct val="90000"/>
            </a:lnSpc>
            <a:spcBef>
              <a:spcPct val="0"/>
            </a:spcBef>
            <a:spcAft>
              <a:spcPct val="35000"/>
            </a:spcAft>
            <a:buNone/>
          </a:pPr>
          <a:r>
            <a:rPr lang="es-ES" sz="1400" b="0" kern="1200" dirty="0" err="1"/>
            <a:t>Analyze</a:t>
          </a:r>
          <a:r>
            <a:rPr lang="es-ES" sz="1400" b="0" kern="1200" dirty="0"/>
            <a:t> t</a:t>
          </a:r>
          <a:r>
            <a:rPr lang="en-US" sz="1400" kern="1200" dirty="0"/>
            <a:t>he sales trends of the stores Baldwin Bikes, Rowlett Bikes, and Santa Cruz Bikes over time.</a:t>
          </a:r>
          <a:r>
            <a:rPr lang="es-ES" sz="1400" b="1" kern="1200" dirty="0"/>
            <a:t> </a:t>
          </a:r>
        </a:p>
        <a:p>
          <a:pPr marL="0" lvl="0" indent="0" algn="l" defTabSz="622300">
            <a:lnSpc>
              <a:spcPct val="90000"/>
            </a:lnSpc>
            <a:spcBef>
              <a:spcPct val="0"/>
            </a:spcBef>
            <a:spcAft>
              <a:spcPct val="35000"/>
            </a:spcAft>
            <a:buNone/>
          </a:pPr>
          <a:r>
            <a:rPr lang="es-ES" sz="1400" b="1" kern="1200" dirty="0"/>
            <a:t> </a:t>
          </a:r>
          <a:endParaRPr lang="en-US" sz="1400" kern="1200" dirty="0"/>
        </a:p>
      </dsp:txBody>
      <dsp:txXfrm>
        <a:off x="565808" y="0"/>
        <a:ext cx="2107608" cy="1104388"/>
      </dsp:txXfrm>
    </dsp:sp>
    <dsp:sp modelId="{917D4BF0-B082-4DDB-8544-F2AABBA92996}">
      <dsp:nvSpPr>
        <dsp:cNvPr id="0" name=""/>
        <dsp:cNvSpPr/>
      </dsp:nvSpPr>
      <dsp:spPr>
        <a:xfrm>
          <a:off x="2929130" y="0"/>
          <a:ext cx="2829004" cy="1104388"/>
        </a:xfrm>
        <a:prstGeom prst="roundRect">
          <a:avLst>
            <a:gd name="adj" fmla="val 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51435" rIns="66675" bIns="0" numCol="1" spcCol="1270" anchor="t" anchorCtr="0">
          <a:noAutofit/>
        </a:bodyPr>
        <a:lstStyle/>
        <a:p>
          <a:pPr marL="0" lvl="0" indent="0" algn="r" defTabSz="666750">
            <a:lnSpc>
              <a:spcPct val="90000"/>
            </a:lnSpc>
            <a:spcBef>
              <a:spcPct val="0"/>
            </a:spcBef>
            <a:spcAft>
              <a:spcPct val="35000"/>
            </a:spcAft>
            <a:buNone/>
          </a:pPr>
          <a:r>
            <a:rPr lang="en-US" sz="1500" kern="1200" dirty="0"/>
            <a:t>Success Criteria</a:t>
          </a:r>
        </a:p>
      </dsp:txBody>
      <dsp:txXfrm rot="16200000">
        <a:off x="2759231" y="169898"/>
        <a:ext cx="905598" cy="565800"/>
      </dsp:txXfrm>
    </dsp:sp>
    <dsp:sp modelId="{A8FD4AA7-986F-4700-A0A3-DF06CEF6AC5D}">
      <dsp:nvSpPr>
        <dsp:cNvPr id="0" name=""/>
        <dsp:cNvSpPr/>
      </dsp:nvSpPr>
      <dsp:spPr>
        <a:xfrm rot="5400000">
          <a:off x="2862074" y="735161"/>
          <a:ext cx="162400" cy="424350"/>
        </a:xfrm>
        <a:prstGeom prst="flowChartExtra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78B2A3-2621-41C0-B867-6D0B52E6D51E}">
      <dsp:nvSpPr>
        <dsp:cNvPr id="0" name=""/>
        <dsp:cNvSpPr/>
      </dsp:nvSpPr>
      <dsp:spPr>
        <a:xfrm>
          <a:off x="3494930" y="0"/>
          <a:ext cx="2107608" cy="11043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8006" rIns="0" bIns="0" numCol="1" spcCol="1270" anchor="t" anchorCtr="0">
          <a:noAutofit/>
        </a:bodyPr>
        <a:lstStyle/>
        <a:p>
          <a:pPr marL="0" lvl="0" indent="0" algn="l" defTabSz="622300">
            <a:lnSpc>
              <a:spcPct val="90000"/>
            </a:lnSpc>
            <a:spcBef>
              <a:spcPct val="0"/>
            </a:spcBef>
            <a:spcAft>
              <a:spcPct val="35000"/>
            </a:spcAft>
            <a:buNone/>
          </a:pPr>
          <a:r>
            <a:rPr lang="en-US" sz="1400" kern="1200" dirty="0"/>
            <a:t>Clearly observe the fluctuations in sales and identify which store performs the best.</a:t>
          </a:r>
        </a:p>
      </dsp:txBody>
      <dsp:txXfrm>
        <a:off x="3494930" y="0"/>
        <a:ext cx="2107608" cy="11043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F015E4-150A-416D-BCD6-FE7430FCDF55}">
      <dsp:nvSpPr>
        <dsp:cNvPr id="0" name=""/>
        <dsp:cNvSpPr/>
      </dsp:nvSpPr>
      <dsp:spPr>
        <a:xfrm>
          <a:off x="7" y="0"/>
          <a:ext cx="2829004" cy="1104388"/>
        </a:xfrm>
        <a:prstGeom prst="roundRect">
          <a:avLst>
            <a:gd name="adj" fmla="val 5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51435" rIns="66675" bIns="0" numCol="1" spcCol="1270" anchor="t" anchorCtr="0">
          <a:noAutofit/>
        </a:bodyPr>
        <a:lstStyle/>
        <a:p>
          <a:pPr marL="0" lvl="0" indent="0" algn="r" defTabSz="666750">
            <a:lnSpc>
              <a:spcPct val="90000"/>
            </a:lnSpc>
            <a:spcBef>
              <a:spcPct val="0"/>
            </a:spcBef>
            <a:spcAft>
              <a:spcPct val="35000"/>
            </a:spcAft>
            <a:buNone/>
          </a:pPr>
          <a:r>
            <a:rPr lang="en-US" sz="1500" kern="1200" dirty="0"/>
            <a:t>Objective</a:t>
          </a:r>
        </a:p>
      </dsp:txBody>
      <dsp:txXfrm rot="16200000">
        <a:off x="-169891" y="169898"/>
        <a:ext cx="905598" cy="565800"/>
      </dsp:txXfrm>
    </dsp:sp>
    <dsp:sp modelId="{9477D9E1-77BB-492E-A78D-96F8580AF949}">
      <dsp:nvSpPr>
        <dsp:cNvPr id="0" name=""/>
        <dsp:cNvSpPr/>
      </dsp:nvSpPr>
      <dsp:spPr>
        <a:xfrm>
          <a:off x="565808" y="0"/>
          <a:ext cx="2107608" cy="11043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34290" rIns="0" bIns="0" numCol="1" spcCol="1270" anchor="t" anchorCtr="0">
          <a:noAutofit/>
        </a:bodyPr>
        <a:lstStyle/>
        <a:p>
          <a:pPr marL="0" lvl="0" indent="0" algn="l" defTabSz="444500">
            <a:lnSpc>
              <a:spcPct val="90000"/>
            </a:lnSpc>
            <a:spcBef>
              <a:spcPct val="0"/>
            </a:spcBef>
            <a:spcAft>
              <a:spcPct val="35000"/>
            </a:spcAft>
            <a:buNone/>
          </a:pPr>
          <a:r>
            <a:rPr lang="en-US" sz="1000" kern="1200" dirty="0"/>
            <a:t>Analyze the variability in inventory days between the order date and the shipping date for each store, to identify whether there are delivery delays or longer inventory times in certain years.</a:t>
          </a:r>
          <a:r>
            <a:rPr lang="es-ES" sz="800" b="1" kern="1200" dirty="0"/>
            <a:t>   </a:t>
          </a:r>
          <a:endParaRPr lang="en-US" sz="800" b="1" kern="1200" dirty="0"/>
        </a:p>
      </dsp:txBody>
      <dsp:txXfrm>
        <a:off x="565808" y="0"/>
        <a:ext cx="2107608" cy="1104388"/>
      </dsp:txXfrm>
    </dsp:sp>
    <dsp:sp modelId="{917D4BF0-B082-4DDB-8544-F2AABBA92996}">
      <dsp:nvSpPr>
        <dsp:cNvPr id="0" name=""/>
        <dsp:cNvSpPr/>
      </dsp:nvSpPr>
      <dsp:spPr>
        <a:xfrm>
          <a:off x="2929130" y="0"/>
          <a:ext cx="2829004" cy="1104388"/>
        </a:xfrm>
        <a:prstGeom prst="roundRect">
          <a:avLst>
            <a:gd name="adj" fmla="val 5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51435" rIns="66675" bIns="0" numCol="1" spcCol="1270" anchor="t" anchorCtr="0">
          <a:noAutofit/>
        </a:bodyPr>
        <a:lstStyle/>
        <a:p>
          <a:pPr marL="0" lvl="0" indent="0" algn="r" defTabSz="666750">
            <a:lnSpc>
              <a:spcPct val="90000"/>
            </a:lnSpc>
            <a:spcBef>
              <a:spcPct val="0"/>
            </a:spcBef>
            <a:spcAft>
              <a:spcPct val="35000"/>
            </a:spcAft>
            <a:buNone/>
          </a:pPr>
          <a:r>
            <a:rPr lang="en-US" sz="1500" kern="1200" dirty="0"/>
            <a:t>Success Criteria</a:t>
          </a:r>
        </a:p>
      </dsp:txBody>
      <dsp:txXfrm rot="16200000">
        <a:off x="2759231" y="169898"/>
        <a:ext cx="905598" cy="565800"/>
      </dsp:txXfrm>
    </dsp:sp>
    <dsp:sp modelId="{A8FD4AA7-986F-4700-A0A3-DF06CEF6AC5D}">
      <dsp:nvSpPr>
        <dsp:cNvPr id="0" name=""/>
        <dsp:cNvSpPr/>
      </dsp:nvSpPr>
      <dsp:spPr>
        <a:xfrm rot="5400000">
          <a:off x="2862074" y="735161"/>
          <a:ext cx="162400" cy="424350"/>
        </a:xfrm>
        <a:prstGeom prst="flowChartExtract">
          <a:avLst/>
        </a:prstGeom>
        <a:solidFill>
          <a:schemeClr val="lt1">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78B2A3-2621-41C0-B867-6D0B52E6D51E}">
      <dsp:nvSpPr>
        <dsp:cNvPr id="0" name=""/>
        <dsp:cNvSpPr/>
      </dsp:nvSpPr>
      <dsp:spPr>
        <a:xfrm>
          <a:off x="3494930" y="0"/>
          <a:ext cx="2107608" cy="11043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8006" rIns="0" bIns="0" numCol="1" spcCol="1270" anchor="t" anchorCtr="0">
          <a:noAutofit/>
        </a:bodyPr>
        <a:lstStyle/>
        <a:p>
          <a:pPr marL="0" lvl="0" indent="0" algn="l" defTabSz="622300">
            <a:lnSpc>
              <a:spcPct val="90000"/>
            </a:lnSpc>
            <a:spcBef>
              <a:spcPct val="0"/>
            </a:spcBef>
            <a:spcAft>
              <a:spcPct val="35000"/>
            </a:spcAft>
            <a:buNone/>
          </a:pPr>
          <a:r>
            <a:rPr lang="en-US" sz="1400" b="1" kern="1200" dirty="0"/>
            <a:t>Observe the evolution of the average inventory days over the years for each store.</a:t>
          </a:r>
        </a:p>
      </dsp:txBody>
      <dsp:txXfrm>
        <a:off x="3494930" y="0"/>
        <a:ext cx="2107608" cy="11043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F015E4-150A-416D-BCD6-FE7430FCDF55}">
      <dsp:nvSpPr>
        <dsp:cNvPr id="0" name=""/>
        <dsp:cNvSpPr/>
      </dsp:nvSpPr>
      <dsp:spPr>
        <a:xfrm>
          <a:off x="0" y="0"/>
          <a:ext cx="2829004" cy="1104388"/>
        </a:xfrm>
        <a:prstGeom prst="roundRect">
          <a:avLst>
            <a:gd name="adj" fmla="val 5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51435" rIns="66675" bIns="0" numCol="1" spcCol="1270" anchor="t" anchorCtr="0">
          <a:noAutofit/>
        </a:bodyPr>
        <a:lstStyle/>
        <a:p>
          <a:pPr marL="0" lvl="0" indent="0" algn="r" defTabSz="666750">
            <a:lnSpc>
              <a:spcPct val="90000"/>
            </a:lnSpc>
            <a:spcBef>
              <a:spcPct val="0"/>
            </a:spcBef>
            <a:spcAft>
              <a:spcPct val="35000"/>
            </a:spcAft>
            <a:buNone/>
          </a:pPr>
          <a:r>
            <a:rPr lang="es-CR" sz="1500" kern="1200" dirty="0" err="1"/>
            <a:t>Objective</a:t>
          </a:r>
          <a:endParaRPr lang="en-US" sz="1500" kern="1200" dirty="0"/>
        </a:p>
      </dsp:txBody>
      <dsp:txXfrm rot="16200000">
        <a:off x="-169898" y="169898"/>
        <a:ext cx="905598" cy="565800"/>
      </dsp:txXfrm>
    </dsp:sp>
    <dsp:sp modelId="{9477D9E1-77BB-492E-A78D-96F8580AF949}">
      <dsp:nvSpPr>
        <dsp:cNvPr id="0" name=""/>
        <dsp:cNvSpPr/>
      </dsp:nvSpPr>
      <dsp:spPr>
        <a:xfrm>
          <a:off x="565800" y="0"/>
          <a:ext cx="2107608" cy="11043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34290" rIns="0" bIns="0" numCol="1" spcCol="1270" anchor="t" anchorCtr="0">
          <a:noAutofit/>
        </a:bodyPr>
        <a:lstStyle/>
        <a:p>
          <a:pPr marL="0" lvl="0" indent="0" algn="l" defTabSz="444500">
            <a:lnSpc>
              <a:spcPct val="90000"/>
            </a:lnSpc>
            <a:spcBef>
              <a:spcPct val="0"/>
            </a:spcBef>
            <a:spcAft>
              <a:spcPct val="35000"/>
            </a:spcAft>
            <a:buNone/>
          </a:pPr>
          <a:r>
            <a:rPr lang="en-US" sz="1000" kern="1200" dirty="0"/>
            <a:t>Analyze the distribution of sales by product to highlight popular items as well as those that may require additional promotion or inventory restocking.</a:t>
          </a:r>
          <a:endParaRPr lang="es-ES" sz="1000" b="1" kern="1200" dirty="0"/>
        </a:p>
        <a:p>
          <a:pPr marL="0" lvl="0" indent="0" algn="l" defTabSz="444500">
            <a:lnSpc>
              <a:spcPct val="90000"/>
            </a:lnSpc>
            <a:spcBef>
              <a:spcPct val="0"/>
            </a:spcBef>
            <a:spcAft>
              <a:spcPct val="35000"/>
            </a:spcAft>
            <a:buNone/>
          </a:pPr>
          <a:r>
            <a:rPr lang="es-ES" sz="1000" b="1" kern="1200" dirty="0"/>
            <a:t> </a:t>
          </a:r>
          <a:r>
            <a:rPr lang="es-ES" sz="800" b="1" kern="1200" dirty="0"/>
            <a:t>   </a:t>
          </a:r>
          <a:endParaRPr lang="en-US" sz="800" b="1" kern="1200" dirty="0"/>
        </a:p>
      </dsp:txBody>
      <dsp:txXfrm>
        <a:off x="565800" y="0"/>
        <a:ext cx="2107608" cy="1104388"/>
      </dsp:txXfrm>
    </dsp:sp>
    <dsp:sp modelId="{917D4BF0-B082-4DDB-8544-F2AABBA92996}">
      <dsp:nvSpPr>
        <dsp:cNvPr id="0" name=""/>
        <dsp:cNvSpPr/>
      </dsp:nvSpPr>
      <dsp:spPr>
        <a:xfrm>
          <a:off x="2929130" y="0"/>
          <a:ext cx="2829004" cy="1104388"/>
        </a:xfrm>
        <a:prstGeom prst="roundRect">
          <a:avLst>
            <a:gd name="adj" fmla="val 5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51435" rIns="66675" bIns="0" numCol="1" spcCol="1270" anchor="t" anchorCtr="0">
          <a:noAutofit/>
        </a:bodyPr>
        <a:lstStyle/>
        <a:p>
          <a:pPr marL="0" lvl="0" indent="0" algn="r" defTabSz="666750">
            <a:lnSpc>
              <a:spcPct val="90000"/>
            </a:lnSpc>
            <a:spcBef>
              <a:spcPct val="0"/>
            </a:spcBef>
            <a:spcAft>
              <a:spcPct val="35000"/>
            </a:spcAft>
            <a:buNone/>
          </a:pPr>
          <a:r>
            <a:rPr lang="es-CR" sz="1500" kern="1200" dirty="0" err="1"/>
            <a:t>Success</a:t>
          </a:r>
          <a:r>
            <a:rPr lang="es-CR" sz="1500" kern="1200" dirty="0"/>
            <a:t> </a:t>
          </a:r>
          <a:r>
            <a:rPr lang="es-CR" sz="1500" kern="1200" dirty="0" err="1"/>
            <a:t>Criteria</a:t>
          </a:r>
          <a:endParaRPr lang="en-US" sz="1500" kern="1200" dirty="0"/>
        </a:p>
      </dsp:txBody>
      <dsp:txXfrm rot="16200000">
        <a:off x="2759231" y="169898"/>
        <a:ext cx="905598" cy="565800"/>
      </dsp:txXfrm>
    </dsp:sp>
    <dsp:sp modelId="{A8FD4AA7-986F-4700-A0A3-DF06CEF6AC5D}">
      <dsp:nvSpPr>
        <dsp:cNvPr id="0" name=""/>
        <dsp:cNvSpPr/>
      </dsp:nvSpPr>
      <dsp:spPr>
        <a:xfrm rot="5400000">
          <a:off x="2862074" y="735161"/>
          <a:ext cx="162400" cy="424350"/>
        </a:xfrm>
        <a:prstGeom prst="flowChartExtract">
          <a:avLst/>
        </a:prstGeom>
        <a:solidFill>
          <a:schemeClr val="lt1">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78B2A3-2621-41C0-B867-6D0B52E6D51E}">
      <dsp:nvSpPr>
        <dsp:cNvPr id="0" name=""/>
        <dsp:cNvSpPr/>
      </dsp:nvSpPr>
      <dsp:spPr>
        <a:xfrm>
          <a:off x="3494930" y="0"/>
          <a:ext cx="2107608" cy="11043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8006" rIns="0" bIns="0" numCol="1" spcCol="1270" anchor="t" anchorCtr="0">
          <a:noAutofit/>
        </a:bodyPr>
        <a:lstStyle/>
        <a:p>
          <a:pPr marL="0" lvl="0" indent="0" algn="l" defTabSz="622300">
            <a:lnSpc>
              <a:spcPct val="90000"/>
            </a:lnSpc>
            <a:spcBef>
              <a:spcPct val="0"/>
            </a:spcBef>
            <a:spcAft>
              <a:spcPct val="35000"/>
            </a:spcAft>
            <a:buNone/>
          </a:pPr>
          <a:endParaRPr lang="en-US" sz="1400" b="1" kern="1200" dirty="0"/>
        </a:p>
      </dsp:txBody>
      <dsp:txXfrm>
        <a:off x="3494930" y="0"/>
        <a:ext cx="2107608" cy="11043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F015E4-150A-416D-BCD6-FE7430FCDF55}">
      <dsp:nvSpPr>
        <dsp:cNvPr id="0" name=""/>
        <dsp:cNvSpPr/>
      </dsp:nvSpPr>
      <dsp:spPr>
        <a:xfrm>
          <a:off x="0" y="0"/>
          <a:ext cx="2829004" cy="1104388"/>
        </a:xfrm>
        <a:prstGeom prst="roundRect">
          <a:avLst>
            <a:gd name="adj" fmla="val 5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51435" rIns="66675" bIns="0" numCol="1" spcCol="1270" anchor="t" anchorCtr="0">
          <a:noAutofit/>
        </a:bodyPr>
        <a:lstStyle/>
        <a:p>
          <a:pPr marL="0" lvl="0" indent="0" algn="r" defTabSz="666750">
            <a:lnSpc>
              <a:spcPct val="90000"/>
            </a:lnSpc>
            <a:spcBef>
              <a:spcPct val="0"/>
            </a:spcBef>
            <a:spcAft>
              <a:spcPct val="35000"/>
            </a:spcAft>
            <a:buNone/>
          </a:pPr>
          <a:r>
            <a:rPr lang="es-CR" sz="1500" kern="1200" dirty="0" err="1"/>
            <a:t>Objective</a:t>
          </a:r>
          <a:endParaRPr lang="en-US" sz="1500" kern="1200" dirty="0"/>
        </a:p>
      </dsp:txBody>
      <dsp:txXfrm rot="16200000">
        <a:off x="-169898" y="169898"/>
        <a:ext cx="905598" cy="565800"/>
      </dsp:txXfrm>
    </dsp:sp>
    <dsp:sp modelId="{9477D9E1-77BB-492E-A78D-96F8580AF949}">
      <dsp:nvSpPr>
        <dsp:cNvPr id="0" name=""/>
        <dsp:cNvSpPr/>
      </dsp:nvSpPr>
      <dsp:spPr>
        <a:xfrm>
          <a:off x="565800" y="0"/>
          <a:ext cx="2107608" cy="11043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1148" rIns="0" bIns="0" numCol="1" spcCol="1270" anchor="t" anchorCtr="0">
          <a:noAutofit/>
        </a:bodyPr>
        <a:lstStyle/>
        <a:p>
          <a:pPr marL="0" lvl="0" indent="0" algn="l" defTabSz="533400">
            <a:lnSpc>
              <a:spcPct val="90000"/>
            </a:lnSpc>
            <a:spcBef>
              <a:spcPct val="0"/>
            </a:spcBef>
            <a:spcAft>
              <a:spcPct val="35000"/>
            </a:spcAft>
            <a:buNone/>
          </a:pPr>
          <a:r>
            <a:rPr lang="en-US" sz="1200" kern="1200" dirty="0"/>
            <a:t>Display the average total sales per customer, highlighting the top customers those who have made the most significant purchases.</a:t>
          </a:r>
          <a:endParaRPr lang="en-US" sz="1200" b="1" kern="1200" dirty="0"/>
        </a:p>
      </dsp:txBody>
      <dsp:txXfrm>
        <a:off x="565800" y="0"/>
        <a:ext cx="2107608" cy="1104388"/>
      </dsp:txXfrm>
    </dsp:sp>
    <dsp:sp modelId="{917D4BF0-B082-4DDB-8544-F2AABBA92996}">
      <dsp:nvSpPr>
        <dsp:cNvPr id="0" name=""/>
        <dsp:cNvSpPr/>
      </dsp:nvSpPr>
      <dsp:spPr>
        <a:xfrm>
          <a:off x="2929130" y="0"/>
          <a:ext cx="2829004" cy="1104388"/>
        </a:xfrm>
        <a:prstGeom prst="roundRect">
          <a:avLst>
            <a:gd name="adj" fmla="val 5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51435" rIns="66675" bIns="0" numCol="1" spcCol="1270" anchor="t" anchorCtr="0">
          <a:noAutofit/>
        </a:bodyPr>
        <a:lstStyle/>
        <a:p>
          <a:pPr marL="0" lvl="0" indent="0" algn="r" defTabSz="666750">
            <a:lnSpc>
              <a:spcPct val="90000"/>
            </a:lnSpc>
            <a:spcBef>
              <a:spcPct val="0"/>
            </a:spcBef>
            <a:spcAft>
              <a:spcPct val="35000"/>
            </a:spcAft>
            <a:buNone/>
          </a:pPr>
          <a:r>
            <a:rPr lang="en-US" sz="1500" kern="1200" dirty="0"/>
            <a:t>Success Criteria</a:t>
          </a:r>
        </a:p>
      </dsp:txBody>
      <dsp:txXfrm rot="16200000">
        <a:off x="2759231" y="169898"/>
        <a:ext cx="905598" cy="565800"/>
      </dsp:txXfrm>
    </dsp:sp>
    <dsp:sp modelId="{A8FD4AA7-986F-4700-A0A3-DF06CEF6AC5D}">
      <dsp:nvSpPr>
        <dsp:cNvPr id="0" name=""/>
        <dsp:cNvSpPr/>
      </dsp:nvSpPr>
      <dsp:spPr>
        <a:xfrm rot="5400000">
          <a:off x="2862074" y="735161"/>
          <a:ext cx="162400" cy="424350"/>
        </a:xfrm>
        <a:prstGeom prst="flowChartExtract">
          <a:avLst/>
        </a:prstGeom>
        <a:solidFill>
          <a:schemeClr val="lt1">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78B2A3-2621-41C0-B867-6D0B52E6D51E}">
      <dsp:nvSpPr>
        <dsp:cNvPr id="0" name=""/>
        <dsp:cNvSpPr/>
      </dsp:nvSpPr>
      <dsp:spPr>
        <a:xfrm>
          <a:off x="3494930" y="0"/>
          <a:ext cx="2107608" cy="11043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8006" rIns="0" bIns="0" numCol="1" spcCol="1270" anchor="t" anchorCtr="0">
          <a:noAutofit/>
        </a:bodyPr>
        <a:lstStyle/>
        <a:p>
          <a:pPr marL="0" lvl="0" indent="0" algn="l" defTabSz="622300">
            <a:lnSpc>
              <a:spcPct val="90000"/>
            </a:lnSpc>
            <a:spcBef>
              <a:spcPct val="0"/>
            </a:spcBef>
            <a:spcAft>
              <a:spcPct val="35000"/>
            </a:spcAft>
            <a:buNone/>
          </a:pPr>
          <a:endParaRPr lang="en-US" sz="1400" b="1" kern="1200" dirty="0"/>
        </a:p>
      </dsp:txBody>
      <dsp:txXfrm>
        <a:off x="3494930" y="0"/>
        <a:ext cx="2107608" cy="1104388"/>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645D2E-86AE-49BC-A952-32F744F5439E}" type="datetimeFigureOut">
              <a:rPr lang="en-US" smtClean="0"/>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56F611-6816-4D25-9F9B-992CC931B9F5}" type="slidenum">
              <a:rPr lang="en-US" smtClean="0"/>
              <a:t>‹#›</a:t>
            </a:fld>
            <a:endParaRPr lang="en-US"/>
          </a:p>
        </p:txBody>
      </p:sp>
    </p:spTree>
    <p:extLst>
      <p:ext uri="{BB962C8B-B14F-4D97-AF65-F5344CB8AC3E}">
        <p14:creationId xmlns:p14="http://schemas.microsoft.com/office/powerpoint/2010/main" val="3620352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Define los objetivos y las necesidades del proyecto.</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Explora y comprende los datos disponibles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Limpia y transforma los datos para análisis</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Aplica técnicas de minería de datos para resolver el problema</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Verifica que los resultados sean útiles para el negocio</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Presenta los resultados y los lleva a la práctica.</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6196986-6826-4EAE-B7EF-221CAB95FCF4}" type="slidenum">
              <a:rPr lang="en-US" smtClean="0"/>
              <a:t>2</a:t>
            </a:fld>
            <a:endParaRPr lang="en-US"/>
          </a:p>
        </p:txBody>
      </p:sp>
    </p:spTree>
    <p:extLst>
      <p:ext uri="{BB962C8B-B14F-4D97-AF65-F5344CB8AC3E}">
        <p14:creationId xmlns:p14="http://schemas.microsoft.com/office/powerpoint/2010/main" val="4152136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56F611-6816-4D25-9F9B-992CC931B9F5}" type="slidenum">
              <a:rPr lang="en-US" smtClean="0"/>
              <a:t>6</a:t>
            </a:fld>
            <a:endParaRPr lang="en-US"/>
          </a:p>
        </p:txBody>
      </p:sp>
    </p:spTree>
    <p:extLst>
      <p:ext uri="{BB962C8B-B14F-4D97-AF65-F5344CB8AC3E}">
        <p14:creationId xmlns:p14="http://schemas.microsoft.com/office/powerpoint/2010/main" val="1272519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56F611-6816-4D25-9F9B-992CC931B9F5}" type="slidenum">
              <a:rPr lang="en-US" smtClean="0"/>
              <a:t>7</a:t>
            </a:fld>
            <a:endParaRPr lang="en-US"/>
          </a:p>
        </p:txBody>
      </p:sp>
    </p:spTree>
    <p:extLst>
      <p:ext uri="{BB962C8B-B14F-4D97-AF65-F5344CB8AC3E}">
        <p14:creationId xmlns:p14="http://schemas.microsoft.com/office/powerpoint/2010/main" val="1653517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B083A4-10AA-4C23-AE68-84CD85C84D62}"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B8B335-54B3-48C1-A755-C0610F25937C}" type="slidenum">
              <a:rPr lang="en-US" smtClean="0"/>
              <a:t>‹#›</a:t>
            </a:fld>
            <a:endParaRPr lang="en-US"/>
          </a:p>
        </p:txBody>
      </p:sp>
    </p:spTree>
    <p:extLst>
      <p:ext uri="{BB962C8B-B14F-4D97-AF65-F5344CB8AC3E}">
        <p14:creationId xmlns:p14="http://schemas.microsoft.com/office/powerpoint/2010/main" val="141118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B083A4-10AA-4C23-AE68-84CD85C84D62}"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B8B335-54B3-48C1-A755-C0610F25937C}" type="slidenum">
              <a:rPr lang="en-US" smtClean="0"/>
              <a:t>‹#›</a:t>
            </a:fld>
            <a:endParaRPr lang="en-US"/>
          </a:p>
        </p:txBody>
      </p:sp>
    </p:spTree>
    <p:extLst>
      <p:ext uri="{BB962C8B-B14F-4D97-AF65-F5344CB8AC3E}">
        <p14:creationId xmlns:p14="http://schemas.microsoft.com/office/powerpoint/2010/main" val="1387898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B083A4-10AA-4C23-AE68-84CD85C84D62}"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B8B335-54B3-48C1-A755-C0610F25937C}" type="slidenum">
              <a:rPr lang="en-US" smtClean="0"/>
              <a:t>‹#›</a:t>
            </a:fld>
            <a:endParaRPr lang="en-US"/>
          </a:p>
        </p:txBody>
      </p:sp>
    </p:spTree>
    <p:extLst>
      <p:ext uri="{BB962C8B-B14F-4D97-AF65-F5344CB8AC3E}">
        <p14:creationId xmlns:p14="http://schemas.microsoft.com/office/powerpoint/2010/main" val="797394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B083A4-10AA-4C23-AE68-84CD85C84D62}"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B8B335-54B3-48C1-A755-C0610F25937C}" type="slidenum">
              <a:rPr lang="en-US" smtClean="0"/>
              <a:t>‹#›</a:t>
            </a:fld>
            <a:endParaRPr lang="en-US"/>
          </a:p>
        </p:txBody>
      </p:sp>
    </p:spTree>
    <p:extLst>
      <p:ext uri="{BB962C8B-B14F-4D97-AF65-F5344CB8AC3E}">
        <p14:creationId xmlns:p14="http://schemas.microsoft.com/office/powerpoint/2010/main" val="1645247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B083A4-10AA-4C23-AE68-84CD85C84D62}" type="datetimeFigureOut">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B8B335-54B3-48C1-A755-C0610F25937C}" type="slidenum">
              <a:rPr lang="en-US" smtClean="0"/>
              <a:t>‹#›</a:t>
            </a:fld>
            <a:endParaRPr lang="en-US"/>
          </a:p>
        </p:txBody>
      </p:sp>
    </p:spTree>
    <p:extLst>
      <p:ext uri="{BB962C8B-B14F-4D97-AF65-F5344CB8AC3E}">
        <p14:creationId xmlns:p14="http://schemas.microsoft.com/office/powerpoint/2010/main" val="67858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B083A4-10AA-4C23-AE68-84CD85C84D62}" type="datetimeFigureOut">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B8B335-54B3-48C1-A755-C0610F25937C}" type="slidenum">
              <a:rPr lang="en-US" smtClean="0"/>
              <a:t>‹#›</a:t>
            </a:fld>
            <a:endParaRPr lang="en-US"/>
          </a:p>
        </p:txBody>
      </p:sp>
    </p:spTree>
    <p:extLst>
      <p:ext uri="{BB962C8B-B14F-4D97-AF65-F5344CB8AC3E}">
        <p14:creationId xmlns:p14="http://schemas.microsoft.com/office/powerpoint/2010/main" val="329353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B083A4-10AA-4C23-AE68-84CD85C84D62}" type="datetimeFigureOut">
              <a:rPr lang="en-US" smtClean="0"/>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B8B335-54B3-48C1-A755-C0610F25937C}" type="slidenum">
              <a:rPr lang="en-US" smtClean="0"/>
              <a:t>‹#›</a:t>
            </a:fld>
            <a:endParaRPr lang="en-US"/>
          </a:p>
        </p:txBody>
      </p:sp>
    </p:spTree>
    <p:extLst>
      <p:ext uri="{BB962C8B-B14F-4D97-AF65-F5344CB8AC3E}">
        <p14:creationId xmlns:p14="http://schemas.microsoft.com/office/powerpoint/2010/main" val="1826490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B083A4-10AA-4C23-AE68-84CD85C84D62}"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B8B335-54B3-48C1-A755-C0610F25937C}" type="slidenum">
              <a:rPr lang="en-US" smtClean="0"/>
              <a:t>‹#›</a:t>
            </a:fld>
            <a:endParaRPr lang="en-US"/>
          </a:p>
        </p:txBody>
      </p:sp>
    </p:spTree>
    <p:extLst>
      <p:ext uri="{BB962C8B-B14F-4D97-AF65-F5344CB8AC3E}">
        <p14:creationId xmlns:p14="http://schemas.microsoft.com/office/powerpoint/2010/main" val="445827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B083A4-10AA-4C23-AE68-84CD85C84D62}"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B8B335-54B3-48C1-A755-C0610F25937C}" type="slidenum">
              <a:rPr lang="en-US" smtClean="0"/>
              <a:t>‹#›</a:t>
            </a:fld>
            <a:endParaRPr lang="en-US"/>
          </a:p>
        </p:txBody>
      </p:sp>
    </p:spTree>
    <p:extLst>
      <p:ext uri="{BB962C8B-B14F-4D97-AF65-F5344CB8AC3E}">
        <p14:creationId xmlns:p14="http://schemas.microsoft.com/office/powerpoint/2010/main" val="2358628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B083A4-10AA-4C23-AE68-84CD85C84D62}"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B8B335-54B3-48C1-A755-C0610F25937C}" type="slidenum">
              <a:rPr lang="en-US" smtClean="0"/>
              <a:t>‹#›</a:t>
            </a:fld>
            <a:endParaRPr lang="en-US"/>
          </a:p>
        </p:txBody>
      </p:sp>
    </p:spTree>
    <p:extLst>
      <p:ext uri="{BB962C8B-B14F-4D97-AF65-F5344CB8AC3E}">
        <p14:creationId xmlns:p14="http://schemas.microsoft.com/office/powerpoint/2010/main" val="3616792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B083A4-10AA-4C23-AE68-84CD85C84D62}"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B8B335-54B3-48C1-A755-C0610F25937C}" type="slidenum">
              <a:rPr lang="en-US" smtClean="0"/>
              <a:t>‹#›</a:t>
            </a:fld>
            <a:endParaRPr lang="en-US"/>
          </a:p>
        </p:txBody>
      </p:sp>
    </p:spTree>
    <p:extLst>
      <p:ext uri="{BB962C8B-B14F-4D97-AF65-F5344CB8AC3E}">
        <p14:creationId xmlns:p14="http://schemas.microsoft.com/office/powerpoint/2010/main" val="2728098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1EB083A4-10AA-4C23-AE68-84CD85C84D62}" type="datetimeFigureOut">
              <a:rPr lang="en-US" smtClean="0"/>
              <a:t>12/3/2025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AAB8B335-54B3-48C1-A755-C0610F25937C}" type="slidenum">
              <a:rPr lang="en-US" smtClean="0"/>
              <a:t>‹#›</a:t>
            </a:fld>
            <a:endParaRPr lang="en-US"/>
          </a:p>
        </p:txBody>
      </p:sp>
    </p:spTree>
    <p:extLst>
      <p:ext uri="{BB962C8B-B14F-4D97-AF65-F5344CB8AC3E}">
        <p14:creationId xmlns:p14="http://schemas.microsoft.com/office/powerpoint/2010/main" val="2388451177"/>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3.xml"/><Relationship Id="rId13" Type="http://schemas.openxmlformats.org/officeDocument/2006/relationships/diagramLayout" Target="../diagrams/layout4.xml"/><Relationship Id="rId18" Type="http://schemas.openxmlformats.org/officeDocument/2006/relationships/diagramLayout" Target="../diagrams/layout5.xml"/><Relationship Id="rId3" Type="http://schemas.openxmlformats.org/officeDocument/2006/relationships/diagramLayout" Target="../diagrams/layout2.xml"/><Relationship Id="rId21" Type="http://schemas.microsoft.com/office/2007/relationships/diagramDrawing" Target="../diagrams/drawing5.xml"/><Relationship Id="rId7" Type="http://schemas.openxmlformats.org/officeDocument/2006/relationships/diagramData" Target="../diagrams/data3.xml"/><Relationship Id="rId12" Type="http://schemas.openxmlformats.org/officeDocument/2006/relationships/diagramData" Target="../diagrams/data4.xml"/><Relationship Id="rId17" Type="http://schemas.openxmlformats.org/officeDocument/2006/relationships/diagramData" Target="../diagrams/data5.xml"/><Relationship Id="rId2" Type="http://schemas.openxmlformats.org/officeDocument/2006/relationships/diagramData" Target="../diagrams/data2.xml"/><Relationship Id="rId16" Type="http://schemas.microsoft.com/office/2007/relationships/diagramDrawing" Target="../diagrams/drawing4.xml"/><Relationship Id="rId20" Type="http://schemas.openxmlformats.org/officeDocument/2006/relationships/diagramColors" Target="../diagrams/colors5.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5" Type="http://schemas.openxmlformats.org/officeDocument/2006/relationships/diagramColors" Target="../diagrams/colors4.xml"/><Relationship Id="rId10" Type="http://schemas.openxmlformats.org/officeDocument/2006/relationships/diagramColors" Target="../diagrams/colors3.xml"/><Relationship Id="rId19" Type="http://schemas.openxmlformats.org/officeDocument/2006/relationships/diagramQuickStyle" Target="../diagrams/quickStyle5.xml"/><Relationship Id="rId4" Type="http://schemas.openxmlformats.org/officeDocument/2006/relationships/diagramQuickStyle" Target="../diagrams/quickStyle2.xml"/><Relationship Id="rId9" Type="http://schemas.openxmlformats.org/officeDocument/2006/relationships/diagramQuickStyle" Target="../diagrams/quickStyle3.xml"/><Relationship Id="rId1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public.tableau.com/app/profile/estephanie.gomez/viz/proyecto_final_2/Dashboard1?publish=yes" TargetMode="External"/><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hyperlink" Target="https://www.kaggle.com/datasets/hosammhmdali/diabetes-datase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E3A1A-87A7-FF76-F45C-326EB8295046}"/>
              </a:ext>
            </a:extLst>
          </p:cNvPr>
          <p:cNvSpPr>
            <a:spLocks noGrp="1"/>
          </p:cNvSpPr>
          <p:nvPr>
            <p:ph type="ctrTitle"/>
          </p:nvPr>
        </p:nvSpPr>
        <p:spPr/>
        <p:txBody>
          <a:bodyPr/>
          <a:lstStyle/>
          <a:p>
            <a:r>
              <a:rPr lang="es-CR" dirty="0"/>
              <a:t>Proyecto Final Minería de Datos</a:t>
            </a:r>
            <a:endParaRPr lang="en-US" dirty="0"/>
          </a:p>
        </p:txBody>
      </p:sp>
      <p:sp>
        <p:nvSpPr>
          <p:cNvPr id="3" name="Subtitle 2">
            <a:extLst>
              <a:ext uri="{FF2B5EF4-FFF2-40B4-BE49-F238E27FC236}">
                <a16:creationId xmlns:a16="http://schemas.microsoft.com/office/drawing/2014/main" id="{69B90031-52FF-2AE9-9C45-C2193E20E069}"/>
              </a:ext>
            </a:extLst>
          </p:cNvPr>
          <p:cNvSpPr>
            <a:spLocks noGrp="1"/>
          </p:cNvSpPr>
          <p:nvPr>
            <p:ph type="subTitle" idx="1"/>
          </p:nvPr>
        </p:nvSpPr>
        <p:spPr/>
        <p:txBody>
          <a:bodyPr/>
          <a:lstStyle/>
          <a:p>
            <a:r>
              <a:rPr lang="es-CR" dirty="0"/>
              <a:t>Estephanie Gomez</a:t>
            </a:r>
            <a:endParaRPr lang="en-US" dirty="0"/>
          </a:p>
        </p:txBody>
      </p:sp>
    </p:spTree>
    <p:extLst>
      <p:ext uri="{BB962C8B-B14F-4D97-AF65-F5344CB8AC3E}">
        <p14:creationId xmlns:p14="http://schemas.microsoft.com/office/powerpoint/2010/main" val="4273306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CC257-29EF-6414-3604-83138C5DFFAB}"/>
              </a:ext>
            </a:extLst>
          </p:cNvPr>
          <p:cNvSpPr>
            <a:spLocks noGrp="1"/>
          </p:cNvSpPr>
          <p:nvPr>
            <p:ph type="title"/>
          </p:nvPr>
        </p:nvSpPr>
        <p:spPr/>
        <p:txBody>
          <a:bodyPr>
            <a:normAutofit/>
          </a:bodyPr>
          <a:lstStyle/>
          <a:p>
            <a:pPr algn="ctr"/>
            <a:r>
              <a:rPr lang="en-US" sz="3600" b="1" dirty="0"/>
              <a:t>CRISP-DM</a:t>
            </a:r>
            <a:r>
              <a:rPr lang="en-US" sz="3600" dirty="0"/>
              <a:t>, o </a:t>
            </a:r>
            <a:r>
              <a:rPr lang="en-US" sz="3600" b="1" dirty="0"/>
              <a:t>Cross-Industry Standard Process for Data Mining</a:t>
            </a:r>
            <a:r>
              <a:rPr lang="es-CR" sz="3600" dirty="0"/>
              <a:t> </a:t>
            </a:r>
            <a:endParaRPr lang="en-US" sz="3600" dirty="0"/>
          </a:p>
        </p:txBody>
      </p:sp>
      <p:pic>
        <p:nvPicPr>
          <p:cNvPr id="16" name="Content Placeholder 15">
            <a:extLst>
              <a:ext uri="{FF2B5EF4-FFF2-40B4-BE49-F238E27FC236}">
                <a16:creationId xmlns:a16="http://schemas.microsoft.com/office/drawing/2014/main" id="{29B098DC-BCC8-404B-A9BF-AAB56304A601}"/>
              </a:ext>
            </a:extLst>
          </p:cNvPr>
          <p:cNvPicPr>
            <a:picLocks noGrp="1" noChangeAspect="1"/>
          </p:cNvPicPr>
          <p:nvPr>
            <p:ph idx="1"/>
          </p:nvPr>
        </p:nvPicPr>
        <p:blipFill>
          <a:blip r:embed="rId3"/>
          <a:stretch>
            <a:fillRect/>
          </a:stretch>
        </p:blipFill>
        <p:spPr>
          <a:xfrm>
            <a:off x="2230695" y="1690688"/>
            <a:ext cx="8114024" cy="4701114"/>
          </a:xfrm>
        </p:spPr>
      </p:pic>
    </p:spTree>
    <p:extLst>
      <p:ext uri="{BB962C8B-B14F-4D97-AF65-F5344CB8AC3E}">
        <p14:creationId xmlns:p14="http://schemas.microsoft.com/office/powerpoint/2010/main" val="862456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83A84-F8AC-1070-13D9-8B561571FE9D}"/>
              </a:ext>
            </a:extLst>
          </p:cNvPr>
          <p:cNvSpPr>
            <a:spLocks noGrp="1"/>
          </p:cNvSpPr>
          <p:nvPr>
            <p:ph type="title"/>
          </p:nvPr>
        </p:nvSpPr>
        <p:spPr/>
        <p:txBody>
          <a:bodyPr/>
          <a:lstStyle/>
          <a:p>
            <a:r>
              <a:rPr lang="en-US" dirty="0"/>
              <a:t>Cycle</a:t>
            </a:r>
          </a:p>
        </p:txBody>
      </p:sp>
      <p:graphicFrame>
        <p:nvGraphicFramePr>
          <p:cNvPr id="4" name="Content Placeholder 3">
            <a:extLst>
              <a:ext uri="{FF2B5EF4-FFF2-40B4-BE49-F238E27FC236}">
                <a16:creationId xmlns:a16="http://schemas.microsoft.com/office/drawing/2014/main" id="{405E9D98-4176-935B-451A-B1148C6B4D90}"/>
              </a:ext>
            </a:extLst>
          </p:cNvPr>
          <p:cNvGraphicFramePr>
            <a:graphicFrameLocks noGrp="1"/>
          </p:cNvGraphicFramePr>
          <p:nvPr>
            <p:ph idx="1"/>
            <p:extLst>
              <p:ext uri="{D42A27DB-BD31-4B8C-83A1-F6EECF244321}">
                <p14:modId xmlns:p14="http://schemas.microsoft.com/office/powerpoint/2010/main" val="1873285120"/>
              </p:ext>
            </p:extLst>
          </p:nvPr>
        </p:nvGraphicFramePr>
        <p:xfrm>
          <a:off x="-1209674" y="1606550"/>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03153BF8-9259-8CDA-FCB0-576A72A1DDC1}"/>
              </a:ext>
            </a:extLst>
          </p:cNvPr>
          <p:cNvSpPr txBox="1"/>
          <p:nvPr/>
        </p:nvSpPr>
        <p:spPr>
          <a:xfrm>
            <a:off x="8143875" y="2485033"/>
            <a:ext cx="3000375" cy="2031325"/>
          </a:xfrm>
          <a:prstGeom prst="rect">
            <a:avLst/>
          </a:prstGeom>
          <a:noFill/>
        </p:spPr>
        <p:txBody>
          <a:bodyPr wrap="square" rtlCol="0">
            <a:spAutoFit/>
          </a:bodyPr>
          <a:lstStyle/>
          <a:p>
            <a:r>
              <a:rPr lang="en-US" b="1" dirty="0"/>
              <a:t>(1 &amp; 2) Objectives and Success Criteria</a:t>
            </a:r>
            <a:br>
              <a:rPr lang="en-US" dirty="0"/>
            </a:br>
            <a:r>
              <a:rPr lang="en-US" b="1" dirty="0"/>
              <a:t>(3) Extraction, Transformation, and Loading (ETL)</a:t>
            </a:r>
            <a:br>
              <a:rPr lang="en-US" dirty="0"/>
            </a:br>
            <a:r>
              <a:rPr lang="en-US" b="1" dirty="0"/>
              <a:t>(4) Data Visualization</a:t>
            </a:r>
            <a:br>
              <a:rPr lang="en-US" dirty="0"/>
            </a:br>
            <a:r>
              <a:rPr lang="en-US" b="1" dirty="0"/>
              <a:t>(5) Data Analysis</a:t>
            </a:r>
            <a:endParaRPr lang="en-US" dirty="0"/>
          </a:p>
        </p:txBody>
      </p:sp>
    </p:spTree>
    <p:extLst>
      <p:ext uri="{BB962C8B-B14F-4D97-AF65-F5344CB8AC3E}">
        <p14:creationId xmlns:p14="http://schemas.microsoft.com/office/powerpoint/2010/main" val="3513962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634E0-3E97-A5EE-B6A2-4964FFD3281E}"/>
              </a:ext>
            </a:extLst>
          </p:cNvPr>
          <p:cNvSpPr>
            <a:spLocks noGrp="1"/>
          </p:cNvSpPr>
          <p:nvPr>
            <p:ph type="title"/>
          </p:nvPr>
        </p:nvSpPr>
        <p:spPr/>
        <p:txBody>
          <a:bodyPr/>
          <a:lstStyle/>
          <a:p>
            <a:r>
              <a:rPr lang="es-CR" dirty="0" err="1"/>
              <a:t>Objective</a:t>
            </a:r>
            <a:r>
              <a:rPr lang="es-CR" dirty="0"/>
              <a:t> </a:t>
            </a:r>
            <a:r>
              <a:rPr lang="es-CR" dirty="0" err="1"/>
              <a:t>Sucess</a:t>
            </a:r>
            <a:r>
              <a:rPr lang="es-CR" dirty="0"/>
              <a:t> </a:t>
            </a:r>
            <a:r>
              <a:rPr lang="es-CR" dirty="0" err="1"/>
              <a:t>Criteria</a:t>
            </a:r>
            <a:endParaRPr lang="en-US" dirty="0"/>
          </a:p>
        </p:txBody>
      </p:sp>
      <p:graphicFrame>
        <p:nvGraphicFramePr>
          <p:cNvPr id="5" name="Content Placeholder 4">
            <a:extLst>
              <a:ext uri="{FF2B5EF4-FFF2-40B4-BE49-F238E27FC236}">
                <a16:creationId xmlns:a16="http://schemas.microsoft.com/office/drawing/2014/main" id="{4E618042-5071-2790-A6B6-BB4516B8F260}"/>
              </a:ext>
            </a:extLst>
          </p:cNvPr>
          <p:cNvGraphicFramePr>
            <a:graphicFrameLocks noGrp="1"/>
          </p:cNvGraphicFramePr>
          <p:nvPr>
            <p:ph idx="1"/>
            <p:extLst>
              <p:ext uri="{D42A27DB-BD31-4B8C-83A1-F6EECF244321}">
                <p14:modId xmlns:p14="http://schemas.microsoft.com/office/powerpoint/2010/main" val="35242534"/>
              </p:ext>
            </p:extLst>
          </p:nvPr>
        </p:nvGraphicFramePr>
        <p:xfrm>
          <a:off x="218768" y="1825625"/>
          <a:ext cx="5759245" cy="11043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Content Placeholder 4">
            <a:extLst>
              <a:ext uri="{FF2B5EF4-FFF2-40B4-BE49-F238E27FC236}">
                <a16:creationId xmlns:a16="http://schemas.microsoft.com/office/drawing/2014/main" id="{124958F0-9862-A1A7-9C7B-F109993A9AB5}"/>
              </a:ext>
            </a:extLst>
          </p:cNvPr>
          <p:cNvGraphicFramePr>
            <a:graphicFrameLocks/>
          </p:cNvGraphicFramePr>
          <p:nvPr>
            <p:extLst>
              <p:ext uri="{D42A27DB-BD31-4B8C-83A1-F6EECF244321}">
                <p14:modId xmlns:p14="http://schemas.microsoft.com/office/powerpoint/2010/main" val="2188653801"/>
              </p:ext>
            </p:extLst>
          </p:nvPr>
        </p:nvGraphicFramePr>
        <p:xfrm>
          <a:off x="6339839" y="1851947"/>
          <a:ext cx="5759245" cy="110438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0" name="Content Placeholder 4">
            <a:extLst>
              <a:ext uri="{FF2B5EF4-FFF2-40B4-BE49-F238E27FC236}">
                <a16:creationId xmlns:a16="http://schemas.microsoft.com/office/drawing/2014/main" id="{15558752-CA0D-C305-F7A7-EE14C1A83938}"/>
              </a:ext>
            </a:extLst>
          </p:cNvPr>
          <p:cNvGraphicFramePr>
            <a:graphicFrameLocks/>
          </p:cNvGraphicFramePr>
          <p:nvPr>
            <p:extLst>
              <p:ext uri="{D42A27DB-BD31-4B8C-83A1-F6EECF244321}">
                <p14:modId xmlns:p14="http://schemas.microsoft.com/office/powerpoint/2010/main" val="3642485196"/>
              </p:ext>
            </p:extLst>
          </p:nvPr>
        </p:nvGraphicFramePr>
        <p:xfrm>
          <a:off x="218767" y="4152543"/>
          <a:ext cx="5759245" cy="1104388"/>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11" name="TextBox 10">
            <a:extLst>
              <a:ext uri="{FF2B5EF4-FFF2-40B4-BE49-F238E27FC236}">
                <a16:creationId xmlns:a16="http://schemas.microsoft.com/office/drawing/2014/main" id="{980E073F-B2CD-E6E7-9671-9175A688E6FF}"/>
              </a:ext>
            </a:extLst>
          </p:cNvPr>
          <p:cNvSpPr txBox="1"/>
          <p:nvPr/>
        </p:nvSpPr>
        <p:spPr>
          <a:xfrm>
            <a:off x="3857932" y="4235377"/>
            <a:ext cx="1805940" cy="707886"/>
          </a:xfrm>
          <a:prstGeom prst="rect">
            <a:avLst/>
          </a:prstGeom>
          <a:noFill/>
        </p:spPr>
        <p:txBody>
          <a:bodyPr wrap="square" rtlCol="0">
            <a:spAutoFit/>
          </a:bodyPr>
          <a:lstStyle/>
          <a:p>
            <a:r>
              <a:rPr lang="en-US" sz="1000" dirty="0"/>
              <a:t>The chart should visually show which products have the highest sales, taking the different stores into account.</a:t>
            </a:r>
            <a:endParaRPr lang="en-US" sz="1000" b="1" dirty="0"/>
          </a:p>
        </p:txBody>
      </p:sp>
      <p:graphicFrame>
        <p:nvGraphicFramePr>
          <p:cNvPr id="12" name="Content Placeholder 4">
            <a:extLst>
              <a:ext uri="{FF2B5EF4-FFF2-40B4-BE49-F238E27FC236}">
                <a16:creationId xmlns:a16="http://schemas.microsoft.com/office/drawing/2014/main" id="{109FEF45-1D8F-701D-E057-4938B1D2D142}"/>
              </a:ext>
            </a:extLst>
          </p:cNvPr>
          <p:cNvGraphicFramePr>
            <a:graphicFrameLocks/>
          </p:cNvGraphicFramePr>
          <p:nvPr>
            <p:extLst>
              <p:ext uri="{D42A27DB-BD31-4B8C-83A1-F6EECF244321}">
                <p14:modId xmlns:p14="http://schemas.microsoft.com/office/powerpoint/2010/main" val="2299104290"/>
              </p:ext>
            </p:extLst>
          </p:nvPr>
        </p:nvGraphicFramePr>
        <p:xfrm>
          <a:off x="6339839" y="4069708"/>
          <a:ext cx="5759245" cy="1104388"/>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13" name="TextBox 12">
            <a:extLst>
              <a:ext uri="{FF2B5EF4-FFF2-40B4-BE49-F238E27FC236}">
                <a16:creationId xmlns:a16="http://schemas.microsoft.com/office/drawing/2014/main" id="{16A5A588-0664-9E3D-7E99-B272060A6A52}"/>
              </a:ext>
            </a:extLst>
          </p:cNvPr>
          <p:cNvSpPr txBox="1"/>
          <p:nvPr/>
        </p:nvSpPr>
        <p:spPr>
          <a:xfrm>
            <a:off x="9979004" y="4108298"/>
            <a:ext cx="1805940" cy="938719"/>
          </a:xfrm>
          <a:prstGeom prst="rect">
            <a:avLst/>
          </a:prstGeom>
          <a:noFill/>
        </p:spPr>
        <p:txBody>
          <a:bodyPr wrap="square" rtlCol="0">
            <a:spAutoFit/>
          </a:bodyPr>
          <a:lstStyle/>
          <a:p>
            <a:r>
              <a:rPr lang="es-ES" sz="1100" b="1" dirty="0"/>
              <a:t>El gráfico debe mostrar de manera visual qué productos tienen ventas más altas y tomando en cuenta las tiendas.</a:t>
            </a:r>
            <a:endParaRPr lang="en-US" sz="1100" b="1" dirty="0"/>
          </a:p>
        </p:txBody>
      </p:sp>
    </p:spTree>
    <p:extLst>
      <p:ext uri="{BB962C8B-B14F-4D97-AF65-F5344CB8AC3E}">
        <p14:creationId xmlns:p14="http://schemas.microsoft.com/office/powerpoint/2010/main" val="2529239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0535C-EECC-A6D6-363E-596AFA82907E}"/>
              </a:ext>
            </a:extLst>
          </p:cNvPr>
          <p:cNvSpPr>
            <a:spLocks noGrp="1"/>
          </p:cNvSpPr>
          <p:nvPr>
            <p:ph type="title"/>
          </p:nvPr>
        </p:nvSpPr>
        <p:spPr>
          <a:xfrm>
            <a:off x="838200" y="365125"/>
            <a:ext cx="2848897" cy="1325563"/>
          </a:xfrm>
        </p:spPr>
        <p:txBody>
          <a:bodyPr/>
          <a:lstStyle/>
          <a:p>
            <a:r>
              <a:rPr lang="es-CR" dirty="0" err="1"/>
              <a:t>Extraction</a:t>
            </a:r>
            <a:endParaRPr lang="en-US" dirty="0"/>
          </a:p>
        </p:txBody>
      </p:sp>
      <p:pic>
        <p:nvPicPr>
          <p:cNvPr id="5" name="Content Placeholder 4">
            <a:extLst>
              <a:ext uri="{FF2B5EF4-FFF2-40B4-BE49-F238E27FC236}">
                <a16:creationId xmlns:a16="http://schemas.microsoft.com/office/drawing/2014/main" id="{3670A3A2-8487-E79A-43DD-6E507400E1C1}"/>
              </a:ext>
            </a:extLst>
          </p:cNvPr>
          <p:cNvPicPr>
            <a:picLocks noGrp="1" noChangeAspect="1"/>
          </p:cNvPicPr>
          <p:nvPr>
            <p:ph idx="1"/>
          </p:nvPr>
        </p:nvPicPr>
        <p:blipFill>
          <a:blip r:embed="rId2"/>
          <a:stretch>
            <a:fillRect/>
          </a:stretch>
        </p:blipFill>
        <p:spPr>
          <a:xfrm>
            <a:off x="875423" y="1795468"/>
            <a:ext cx="1416123" cy="4178515"/>
          </a:xfrm>
        </p:spPr>
      </p:pic>
      <p:pic>
        <p:nvPicPr>
          <p:cNvPr id="7" name="Picture 6">
            <a:extLst>
              <a:ext uri="{FF2B5EF4-FFF2-40B4-BE49-F238E27FC236}">
                <a16:creationId xmlns:a16="http://schemas.microsoft.com/office/drawing/2014/main" id="{3E5BCE42-B30E-7C45-AE8F-6EEC383735F8}"/>
              </a:ext>
            </a:extLst>
          </p:cNvPr>
          <p:cNvPicPr>
            <a:picLocks noChangeAspect="1"/>
          </p:cNvPicPr>
          <p:nvPr/>
        </p:nvPicPr>
        <p:blipFill>
          <a:blip r:embed="rId3"/>
          <a:stretch>
            <a:fillRect/>
          </a:stretch>
        </p:blipFill>
        <p:spPr>
          <a:xfrm>
            <a:off x="6306763" y="1690688"/>
            <a:ext cx="1543129" cy="4388076"/>
          </a:xfrm>
          <a:prstGeom prst="rect">
            <a:avLst/>
          </a:prstGeom>
        </p:spPr>
      </p:pic>
      <p:pic>
        <p:nvPicPr>
          <p:cNvPr id="11" name="Picture 10">
            <a:extLst>
              <a:ext uri="{FF2B5EF4-FFF2-40B4-BE49-F238E27FC236}">
                <a16:creationId xmlns:a16="http://schemas.microsoft.com/office/drawing/2014/main" id="{18C71287-7AD2-7985-AFA1-CBAEDB64F563}"/>
              </a:ext>
            </a:extLst>
          </p:cNvPr>
          <p:cNvPicPr>
            <a:picLocks noChangeAspect="1"/>
          </p:cNvPicPr>
          <p:nvPr/>
        </p:nvPicPr>
        <p:blipFill>
          <a:blip r:embed="rId4"/>
          <a:stretch>
            <a:fillRect/>
          </a:stretch>
        </p:blipFill>
        <p:spPr>
          <a:xfrm>
            <a:off x="2506548" y="2133533"/>
            <a:ext cx="2140060" cy="1295467"/>
          </a:xfrm>
          <a:prstGeom prst="rect">
            <a:avLst/>
          </a:prstGeom>
        </p:spPr>
      </p:pic>
      <p:pic>
        <p:nvPicPr>
          <p:cNvPr id="13" name="Picture 12">
            <a:extLst>
              <a:ext uri="{FF2B5EF4-FFF2-40B4-BE49-F238E27FC236}">
                <a16:creationId xmlns:a16="http://schemas.microsoft.com/office/drawing/2014/main" id="{032F3074-8A1A-B589-7DA7-6F53EDD54998}"/>
              </a:ext>
            </a:extLst>
          </p:cNvPr>
          <p:cNvPicPr>
            <a:picLocks noChangeAspect="1"/>
          </p:cNvPicPr>
          <p:nvPr/>
        </p:nvPicPr>
        <p:blipFill>
          <a:blip r:embed="rId5"/>
          <a:srcRect b="34327"/>
          <a:stretch/>
        </p:blipFill>
        <p:spPr>
          <a:xfrm>
            <a:off x="2576402" y="3779945"/>
            <a:ext cx="2000353" cy="1126013"/>
          </a:xfrm>
          <a:prstGeom prst="rect">
            <a:avLst/>
          </a:prstGeom>
        </p:spPr>
      </p:pic>
      <p:pic>
        <p:nvPicPr>
          <p:cNvPr id="15" name="Picture 14">
            <a:extLst>
              <a:ext uri="{FF2B5EF4-FFF2-40B4-BE49-F238E27FC236}">
                <a16:creationId xmlns:a16="http://schemas.microsoft.com/office/drawing/2014/main" id="{BF08D99E-18D9-B9E0-B734-8B9612230E51}"/>
              </a:ext>
            </a:extLst>
          </p:cNvPr>
          <p:cNvPicPr>
            <a:picLocks noChangeAspect="1"/>
          </p:cNvPicPr>
          <p:nvPr/>
        </p:nvPicPr>
        <p:blipFill>
          <a:blip r:embed="rId6"/>
          <a:stretch>
            <a:fillRect/>
          </a:stretch>
        </p:blipFill>
        <p:spPr>
          <a:xfrm>
            <a:off x="7917017" y="2029889"/>
            <a:ext cx="3525333" cy="1325563"/>
          </a:xfrm>
          <a:prstGeom prst="rect">
            <a:avLst/>
          </a:prstGeom>
        </p:spPr>
      </p:pic>
      <p:pic>
        <p:nvPicPr>
          <p:cNvPr id="17" name="Picture 16">
            <a:extLst>
              <a:ext uri="{FF2B5EF4-FFF2-40B4-BE49-F238E27FC236}">
                <a16:creationId xmlns:a16="http://schemas.microsoft.com/office/drawing/2014/main" id="{1A317D05-2F65-A1DB-964E-46F5E665D597}"/>
              </a:ext>
            </a:extLst>
          </p:cNvPr>
          <p:cNvPicPr>
            <a:picLocks noChangeAspect="1"/>
          </p:cNvPicPr>
          <p:nvPr/>
        </p:nvPicPr>
        <p:blipFill>
          <a:blip r:embed="rId7"/>
          <a:stretch>
            <a:fillRect/>
          </a:stretch>
        </p:blipFill>
        <p:spPr>
          <a:xfrm>
            <a:off x="8051276" y="3598945"/>
            <a:ext cx="3391074" cy="1949550"/>
          </a:xfrm>
          <a:prstGeom prst="rect">
            <a:avLst/>
          </a:prstGeom>
        </p:spPr>
      </p:pic>
      <p:sp>
        <p:nvSpPr>
          <p:cNvPr id="19" name="TextBox 18">
            <a:extLst>
              <a:ext uri="{FF2B5EF4-FFF2-40B4-BE49-F238E27FC236}">
                <a16:creationId xmlns:a16="http://schemas.microsoft.com/office/drawing/2014/main" id="{4FCE1C04-9881-98A7-BE7F-C6E69E6E78B1}"/>
              </a:ext>
            </a:extLst>
          </p:cNvPr>
          <p:cNvSpPr txBox="1"/>
          <p:nvPr/>
        </p:nvSpPr>
        <p:spPr>
          <a:xfrm>
            <a:off x="8853812" y="1443103"/>
            <a:ext cx="1643330" cy="369332"/>
          </a:xfrm>
          <a:prstGeom prst="rect">
            <a:avLst/>
          </a:prstGeom>
          <a:noFill/>
        </p:spPr>
        <p:txBody>
          <a:bodyPr wrap="square" rtlCol="0">
            <a:spAutoFit/>
          </a:bodyPr>
          <a:lstStyle/>
          <a:p>
            <a:r>
              <a:rPr lang="en-US" dirty="0"/>
              <a:t>Type 0 y Type 1</a:t>
            </a:r>
          </a:p>
        </p:txBody>
      </p:sp>
      <p:sp>
        <p:nvSpPr>
          <p:cNvPr id="20" name="Title 1">
            <a:extLst>
              <a:ext uri="{FF2B5EF4-FFF2-40B4-BE49-F238E27FC236}">
                <a16:creationId xmlns:a16="http://schemas.microsoft.com/office/drawing/2014/main" id="{0A7BA985-FC2C-695E-8BD8-4338E361F2E8}"/>
              </a:ext>
            </a:extLst>
          </p:cNvPr>
          <p:cNvSpPr txBox="1">
            <a:spLocks/>
          </p:cNvSpPr>
          <p:nvPr/>
        </p:nvSpPr>
        <p:spPr>
          <a:xfrm>
            <a:off x="7440561" y="302206"/>
            <a:ext cx="383458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R" dirty="0" err="1"/>
              <a:t>Transformation</a:t>
            </a:r>
            <a:r>
              <a:rPr lang="es-CR" dirty="0"/>
              <a:t> </a:t>
            </a:r>
            <a:endParaRPr lang="en-US" dirty="0"/>
          </a:p>
        </p:txBody>
      </p:sp>
    </p:spTree>
    <p:extLst>
      <p:ext uri="{BB962C8B-B14F-4D97-AF65-F5344CB8AC3E}">
        <p14:creationId xmlns:p14="http://schemas.microsoft.com/office/powerpoint/2010/main" val="2542297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53B8B-C8E8-D448-7CEA-B626DF7A0EA6}"/>
              </a:ext>
            </a:extLst>
          </p:cNvPr>
          <p:cNvSpPr>
            <a:spLocks noGrp="1"/>
          </p:cNvSpPr>
          <p:nvPr>
            <p:ph type="title"/>
          </p:nvPr>
        </p:nvSpPr>
        <p:spPr/>
        <p:txBody>
          <a:bodyPr/>
          <a:lstStyle/>
          <a:p>
            <a:r>
              <a:rPr lang="es-CR" dirty="0"/>
              <a:t>Load</a:t>
            </a:r>
            <a:endParaRPr lang="en-US" dirty="0"/>
          </a:p>
        </p:txBody>
      </p:sp>
      <p:pic>
        <p:nvPicPr>
          <p:cNvPr id="5" name="Content Placeholder 4">
            <a:extLst>
              <a:ext uri="{FF2B5EF4-FFF2-40B4-BE49-F238E27FC236}">
                <a16:creationId xmlns:a16="http://schemas.microsoft.com/office/drawing/2014/main" id="{37425BC6-BBFB-6E7E-A5F5-D943F6E52F89}"/>
              </a:ext>
            </a:extLst>
          </p:cNvPr>
          <p:cNvPicPr>
            <a:picLocks noGrp="1" noChangeAspect="1"/>
          </p:cNvPicPr>
          <p:nvPr>
            <p:ph idx="1"/>
          </p:nvPr>
        </p:nvPicPr>
        <p:blipFill>
          <a:blip r:embed="rId3"/>
          <a:stretch>
            <a:fillRect/>
          </a:stretch>
        </p:blipFill>
        <p:spPr>
          <a:xfrm>
            <a:off x="899906" y="2911448"/>
            <a:ext cx="1219263" cy="1035103"/>
          </a:xfrm>
        </p:spPr>
      </p:pic>
      <p:pic>
        <p:nvPicPr>
          <p:cNvPr id="7" name="Picture 6">
            <a:extLst>
              <a:ext uri="{FF2B5EF4-FFF2-40B4-BE49-F238E27FC236}">
                <a16:creationId xmlns:a16="http://schemas.microsoft.com/office/drawing/2014/main" id="{F41195E0-B848-1DEC-A854-3D162BF7B895}"/>
              </a:ext>
            </a:extLst>
          </p:cNvPr>
          <p:cNvPicPr>
            <a:picLocks noChangeAspect="1"/>
          </p:cNvPicPr>
          <p:nvPr/>
        </p:nvPicPr>
        <p:blipFill>
          <a:blip r:embed="rId4"/>
          <a:srcRect l="1" r="5751"/>
          <a:stretch/>
        </p:blipFill>
        <p:spPr>
          <a:xfrm>
            <a:off x="3238767" y="299468"/>
            <a:ext cx="1352622" cy="4618403"/>
          </a:xfrm>
          <a:prstGeom prst="rect">
            <a:avLst/>
          </a:prstGeom>
        </p:spPr>
      </p:pic>
      <p:pic>
        <p:nvPicPr>
          <p:cNvPr id="11" name="Picture 10">
            <a:extLst>
              <a:ext uri="{FF2B5EF4-FFF2-40B4-BE49-F238E27FC236}">
                <a16:creationId xmlns:a16="http://schemas.microsoft.com/office/drawing/2014/main" id="{7876C875-40EE-CDCB-DDB2-205904FF4042}"/>
              </a:ext>
            </a:extLst>
          </p:cNvPr>
          <p:cNvPicPr>
            <a:picLocks noChangeAspect="1"/>
          </p:cNvPicPr>
          <p:nvPr/>
        </p:nvPicPr>
        <p:blipFill>
          <a:blip r:embed="rId5"/>
          <a:stretch>
            <a:fillRect/>
          </a:stretch>
        </p:blipFill>
        <p:spPr>
          <a:xfrm>
            <a:off x="5915023" y="365125"/>
            <a:ext cx="4319177" cy="3665200"/>
          </a:xfrm>
          <a:prstGeom prst="rect">
            <a:avLst/>
          </a:prstGeom>
        </p:spPr>
      </p:pic>
      <p:pic>
        <p:nvPicPr>
          <p:cNvPr id="13" name="Picture 12">
            <a:extLst>
              <a:ext uri="{FF2B5EF4-FFF2-40B4-BE49-F238E27FC236}">
                <a16:creationId xmlns:a16="http://schemas.microsoft.com/office/drawing/2014/main" id="{6B37B14A-F4CE-5381-E678-4B296107171D}"/>
              </a:ext>
            </a:extLst>
          </p:cNvPr>
          <p:cNvPicPr>
            <a:picLocks noChangeAspect="1"/>
          </p:cNvPicPr>
          <p:nvPr/>
        </p:nvPicPr>
        <p:blipFill>
          <a:blip r:embed="rId6"/>
          <a:stretch>
            <a:fillRect/>
          </a:stretch>
        </p:blipFill>
        <p:spPr>
          <a:xfrm>
            <a:off x="7600613" y="4711491"/>
            <a:ext cx="1339919" cy="952549"/>
          </a:xfrm>
          <a:prstGeom prst="rect">
            <a:avLst/>
          </a:prstGeom>
        </p:spPr>
      </p:pic>
      <p:pic>
        <p:nvPicPr>
          <p:cNvPr id="16" name="Picture 15">
            <a:extLst>
              <a:ext uri="{FF2B5EF4-FFF2-40B4-BE49-F238E27FC236}">
                <a16:creationId xmlns:a16="http://schemas.microsoft.com/office/drawing/2014/main" id="{2DCAC4EB-9CCD-F29F-9CFE-7A03241A1E6B}"/>
              </a:ext>
            </a:extLst>
          </p:cNvPr>
          <p:cNvPicPr>
            <a:picLocks noChangeAspect="1"/>
          </p:cNvPicPr>
          <p:nvPr/>
        </p:nvPicPr>
        <p:blipFill>
          <a:blip r:embed="rId7"/>
          <a:srcRect l="3181"/>
          <a:stretch/>
        </p:blipFill>
        <p:spPr>
          <a:xfrm>
            <a:off x="3238767" y="4917871"/>
            <a:ext cx="1352622" cy="1739989"/>
          </a:xfrm>
          <a:prstGeom prst="rect">
            <a:avLst/>
          </a:prstGeom>
        </p:spPr>
      </p:pic>
    </p:spTree>
    <p:extLst>
      <p:ext uri="{BB962C8B-B14F-4D97-AF65-F5344CB8AC3E}">
        <p14:creationId xmlns:p14="http://schemas.microsoft.com/office/powerpoint/2010/main" val="1855684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8E8AB-4BAF-80DF-52C0-0F6DD560F798}"/>
              </a:ext>
            </a:extLst>
          </p:cNvPr>
          <p:cNvSpPr>
            <a:spLocks noGrp="1"/>
          </p:cNvSpPr>
          <p:nvPr>
            <p:ph type="title"/>
          </p:nvPr>
        </p:nvSpPr>
        <p:spPr>
          <a:xfrm>
            <a:off x="552450" y="-50074"/>
            <a:ext cx="10515600" cy="1325563"/>
          </a:xfrm>
        </p:spPr>
        <p:txBody>
          <a:bodyPr/>
          <a:lstStyle/>
          <a:p>
            <a:r>
              <a:rPr lang="es-CR" dirty="0"/>
              <a:t>SCD</a:t>
            </a:r>
            <a:endParaRPr lang="en-US" dirty="0"/>
          </a:p>
        </p:txBody>
      </p:sp>
      <p:graphicFrame>
        <p:nvGraphicFramePr>
          <p:cNvPr id="4" name="Content Placeholder 3">
            <a:extLst>
              <a:ext uri="{FF2B5EF4-FFF2-40B4-BE49-F238E27FC236}">
                <a16:creationId xmlns:a16="http://schemas.microsoft.com/office/drawing/2014/main" id="{F2408C9A-7159-E2EB-CF17-39CCC29409C8}"/>
              </a:ext>
            </a:extLst>
          </p:cNvPr>
          <p:cNvGraphicFramePr>
            <a:graphicFrameLocks noGrp="1"/>
          </p:cNvGraphicFramePr>
          <p:nvPr>
            <p:ph idx="1"/>
            <p:extLst>
              <p:ext uri="{D42A27DB-BD31-4B8C-83A1-F6EECF244321}">
                <p14:modId xmlns:p14="http://schemas.microsoft.com/office/powerpoint/2010/main" val="1403072084"/>
              </p:ext>
            </p:extLst>
          </p:nvPr>
        </p:nvGraphicFramePr>
        <p:xfrm>
          <a:off x="552450" y="1000125"/>
          <a:ext cx="10801350" cy="5585157"/>
        </p:xfrm>
        <a:graphic>
          <a:graphicData uri="http://schemas.openxmlformats.org/drawingml/2006/table">
            <a:tbl>
              <a:tblPr firstRow="1" bandRow="1">
                <a:tableStyleId>{5C22544A-7EE6-4342-B048-85BDC9FD1C3A}</a:tableStyleId>
              </a:tblPr>
              <a:tblGrid>
                <a:gridCol w="2724150">
                  <a:extLst>
                    <a:ext uri="{9D8B030D-6E8A-4147-A177-3AD203B41FA5}">
                      <a16:colId xmlns:a16="http://schemas.microsoft.com/office/drawing/2014/main" val="1597366661"/>
                    </a:ext>
                  </a:extLst>
                </a:gridCol>
                <a:gridCol w="8077200">
                  <a:extLst>
                    <a:ext uri="{9D8B030D-6E8A-4147-A177-3AD203B41FA5}">
                      <a16:colId xmlns:a16="http://schemas.microsoft.com/office/drawing/2014/main" val="1964678196"/>
                    </a:ext>
                  </a:extLst>
                </a:gridCol>
              </a:tblGrid>
              <a:tr h="287232">
                <a:tc>
                  <a:txBody>
                    <a:bodyPr/>
                    <a:lstStyle/>
                    <a:p>
                      <a:r>
                        <a:rPr lang="es-CR" dirty="0"/>
                        <a:t>Table</a:t>
                      </a:r>
                      <a:endParaRPr lang="en-US" dirty="0"/>
                    </a:p>
                  </a:txBody>
                  <a:tcPr/>
                </a:tc>
                <a:tc>
                  <a:txBody>
                    <a:bodyPr/>
                    <a:lstStyle/>
                    <a:p>
                      <a:r>
                        <a:rPr lang="es-CR" dirty="0"/>
                        <a:t>Field y </a:t>
                      </a:r>
                      <a:r>
                        <a:rPr lang="es-CR" dirty="0" err="1"/>
                        <a:t>Type</a:t>
                      </a:r>
                      <a:endParaRPr lang="en-US" dirty="0"/>
                    </a:p>
                  </a:txBody>
                  <a:tcPr/>
                </a:tc>
                <a:extLst>
                  <a:ext uri="{0D108BD9-81ED-4DB2-BD59-A6C34878D82A}">
                    <a16:rowId xmlns:a16="http://schemas.microsoft.com/office/drawing/2014/main" val="3257792603"/>
                  </a:ext>
                </a:extLst>
              </a:tr>
              <a:tr h="567874">
                <a:tc>
                  <a:txBody>
                    <a:bodyPr/>
                    <a:lstStyle/>
                    <a:p>
                      <a:r>
                        <a:rPr lang="es-CR" dirty="0" err="1"/>
                        <a:t>Dim</a:t>
                      </a:r>
                      <a:r>
                        <a:rPr lang="es-CR" dirty="0"/>
                        <a:t> </a:t>
                      </a:r>
                      <a:r>
                        <a:rPr lang="es-CR" dirty="0" err="1"/>
                        <a:t>Customers</a:t>
                      </a:r>
                      <a:endParaRPr lang="en-US" dirty="0"/>
                    </a:p>
                  </a:txBody>
                  <a:tcPr/>
                </a:tc>
                <a:tc>
                  <a:txBody>
                    <a:bodyPr/>
                    <a:lstStyle/>
                    <a:p>
                      <a:r>
                        <a:rPr lang="es-CR" dirty="0" err="1"/>
                        <a:t>Type</a:t>
                      </a:r>
                      <a:r>
                        <a:rPr lang="es-CR" dirty="0"/>
                        <a:t> 1</a:t>
                      </a:r>
                    </a:p>
                    <a:p>
                      <a:endParaRPr lang="es-CR" dirty="0"/>
                    </a:p>
                    <a:p>
                      <a:endParaRPr lang="en-US" dirty="0"/>
                    </a:p>
                  </a:txBody>
                  <a:tcPr/>
                </a:tc>
                <a:extLst>
                  <a:ext uri="{0D108BD9-81ED-4DB2-BD59-A6C34878D82A}">
                    <a16:rowId xmlns:a16="http://schemas.microsoft.com/office/drawing/2014/main" val="476882747"/>
                  </a:ext>
                </a:extLst>
              </a:tr>
              <a:tr h="825399">
                <a:tc>
                  <a:txBody>
                    <a:bodyPr/>
                    <a:lstStyle/>
                    <a:p>
                      <a:r>
                        <a:rPr lang="es-CR" dirty="0" err="1"/>
                        <a:t>Dim</a:t>
                      </a:r>
                      <a:r>
                        <a:rPr lang="es-CR" dirty="0"/>
                        <a:t> </a:t>
                      </a:r>
                      <a:r>
                        <a:rPr lang="es-CR" dirty="0" err="1"/>
                        <a:t>Stores</a:t>
                      </a:r>
                      <a:endParaRPr lang="en-US" dirty="0"/>
                    </a:p>
                  </a:txBody>
                  <a:tcPr/>
                </a:tc>
                <a:tc>
                  <a:txBody>
                    <a:bodyPr/>
                    <a:lstStyle/>
                    <a:p>
                      <a:r>
                        <a:rPr lang="es-CR" dirty="0" err="1"/>
                        <a:t>Type</a:t>
                      </a:r>
                      <a:r>
                        <a:rPr lang="es-CR" dirty="0"/>
                        <a:t> 0</a:t>
                      </a:r>
                      <a:endParaRPr lang="en-US" dirty="0"/>
                    </a:p>
                  </a:txBody>
                  <a:tcPr/>
                </a:tc>
                <a:extLst>
                  <a:ext uri="{0D108BD9-81ED-4DB2-BD59-A6C34878D82A}">
                    <a16:rowId xmlns:a16="http://schemas.microsoft.com/office/drawing/2014/main" val="53212700"/>
                  </a:ext>
                </a:extLst>
              </a:tr>
              <a:tr h="825399">
                <a:tc>
                  <a:txBody>
                    <a:bodyPr/>
                    <a:lstStyle/>
                    <a:p>
                      <a:r>
                        <a:rPr lang="es-CR" dirty="0" err="1"/>
                        <a:t>Dim</a:t>
                      </a:r>
                      <a:r>
                        <a:rPr lang="es-CR" dirty="0"/>
                        <a:t> Staff</a:t>
                      </a:r>
                      <a:endParaRPr lang="en-US" dirty="0"/>
                    </a:p>
                  </a:txBody>
                  <a:tcPr/>
                </a:tc>
                <a:tc>
                  <a:txBody>
                    <a:bodyPr/>
                    <a:lstStyle/>
                    <a:p>
                      <a:r>
                        <a:rPr lang="es-CR" dirty="0" err="1"/>
                        <a:t>Type</a:t>
                      </a:r>
                      <a:r>
                        <a:rPr lang="es-CR" dirty="0"/>
                        <a:t> 1</a:t>
                      </a:r>
                      <a:endParaRPr lang="en-US" dirty="0"/>
                    </a:p>
                  </a:txBody>
                  <a:tcPr/>
                </a:tc>
                <a:extLst>
                  <a:ext uri="{0D108BD9-81ED-4DB2-BD59-A6C34878D82A}">
                    <a16:rowId xmlns:a16="http://schemas.microsoft.com/office/drawing/2014/main" val="4234668760"/>
                  </a:ext>
                </a:extLst>
              </a:tr>
              <a:tr h="825399">
                <a:tc>
                  <a:txBody>
                    <a:bodyPr/>
                    <a:lstStyle/>
                    <a:p>
                      <a:r>
                        <a:rPr lang="es-CR" dirty="0" err="1"/>
                        <a:t>Dim</a:t>
                      </a:r>
                      <a:r>
                        <a:rPr lang="es-CR" dirty="0"/>
                        <a:t> </a:t>
                      </a:r>
                      <a:r>
                        <a:rPr lang="es-CR" dirty="0" err="1"/>
                        <a:t>Products</a:t>
                      </a:r>
                      <a:endParaRPr lang="en-US" dirty="0"/>
                    </a:p>
                  </a:txBody>
                  <a:tcPr/>
                </a:tc>
                <a:tc>
                  <a:txBody>
                    <a:bodyPr/>
                    <a:lstStyle/>
                    <a:p>
                      <a:r>
                        <a:rPr lang="es-CR" dirty="0" err="1"/>
                        <a:t>Type</a:t>
                      </a:r>
                      <a:r>
                        <a:rPr lang="es-CR" dirty="0"/>
                        <a:t> 0 y </a:t>
                      </a:r>
                      <a:r>
                        <a:rPr lang="es-CR" dirty="0" err="1"/>
                        <a:t>Type</a:t>
                      </a:r>
                      <a:r>
                        <a:rPr lang="es-CR" dirty="0"/>
                        <a:t> 1</a:t>
                      </a:r>
                    </a:p>
                    <a:p>
                      <a:endParaRPr lang="en-US" dirty="0"/>
                    </a:p>
                  </a:txBody>
                  <a:tcPr/>
                </a:tc>
                <a:extLst>
                  <a:ext uri="{0D108BD9-81ED-4DB2-BD59-A6C34878D82A}">
                    <a16:rowId xmlns:a16="http://schemas.microsoft.com/office/drawing/2014/main" val="2024622313"/>
                  </a:ext>
                </a:extLst>
              </a:tr>
              <a:tr h="825399">
                <a:tc>
                  <a:txBody>
                    <a:bodyPr/>
                    <a:lstStyle/>
                    <a:p>
                      <a:r>
                        <a:rPr lang="es-CR" dirty="0" err="1"/>
                        <a:t>Dim</a:t>
                      </a:r>
                      <a:r>
                        <a:rPr lang="es-CR" dirty="0"/>
                        <a:t> </a:t>
                      </a:r>
                      <a:r>
                        <a:rPr lang="es-CR" dirty="0" err="1"/>
                        <a:t>orders</a:t>
                      </a:r>
                      <a:endParaRPr lang="en-US" dirty="0"/>
                    </a:p>
                  </a:txBody>
                  <a:tcPr/>
                </a:tc>
                <a:tc>
                  <a:txBody>
                    <a:bodyPr/>
                    <a:lstStyle/>
                    <a:p>
                      <a:r>
                        <a:rPr lang="es-CR" dirty="0" err="1"/>
                        <a:t>Type</a:t>
                      </a:r>
                      <a:r>
                        <a:rPr lang="es-CR" dirty="0"/>
                        <a:t> 1 -</a:t>
                      </a:r>
                      <a:r>
                        <a:rPr lang="en-US" dirty="0"/>
                        <a:t>&gt; </a:t>
                      </a:r>
                      <a:r>
                        <a:rPr lang="es-CR" dirty="0" err="1"/>
                        <a:t>Type</a:t>
                      </a:r>
                      <a:r>
                        <a:rPr lang="en-US" dirty="0"/>
                        <a:t> 2</a:t>
                      </a:r>
                      <a:endParaRPr lang="es-CR" dirty="0"/>
                    </a:p>
                    <a:p>
                      <a:endParaRPr lang="es-CR" dirty="0"/>
                    </a:p>
                    <a:p>
                      <a:endParaRPr lang="en-US" dirty="0"/>
                    </a:p>
                  </a:txBody>
                  <a:tcPr/>
                </a:tc>
                <a:extLst>
                  <a:ext uri="{0D108BD9-81ED-4DB2-BD59-A6C34878D82A}">
                    <a16:rowId xmlns:a16="http://schemas.microsoft.com/office/drawing/2014/main" val="1510834753"/>
                  </a:ext>
                </a:extLst>
              </a:tr>
              <a:tr h="825399">
                <a:tc>
                  <a:txBody>
                    <a:bodyPr/>
                    <a:lstStyle/>
                    <a:p>
                      <a:r>
                        <a:rPr lang="es-CR" dirty="0" err="1"/>
                        <a:t>Dim</a:t>
                      </a:r>
                      <a:r>
                        <a:rPr lang="es-CR" dirty="0"/>
                        <a:t> </a:t>
                      </a:r>
                      <a:r>
                        <a:rPr lang="es-CR" dirty="0" err="1"/>
                        <a:t>Order</a:t>
                      </a:r>
                      <a:r>
                        <a:rPr lang="es-CR" dirty="0"/>
                        <a:t> </a:t>
                      </a:r>
                      <a:r>
                        <a:rPr lang="es-CR" dirty="0" err="1"/>
                        <a:t>Items</a:t>
                      </a:r>
                      <a:endParaRPr lang="en-US" dirty="0"/>
                    </a:p>
                  </a:txBody>
                  <a:tcPr/>
                </a:tc>
                <a:tc>
                  <a:txBody>
                    <a:bodyPr/>
                    <a:lstStyle/>
                    <a:p>
                      <a:r>
                        <a:rPr lang="es-CR" dirty="0" err="1"/>
                        <a:t>Type</a:t>
                      </a:r>
                      <a:r>
                        <a:rPr lang="es-CR" dirty="0"/>
                        <a:t> 1</a:t>
                      </a:r>
                    </a:p>
                    <a:p>
                      <a:endParaRPr lang="es-CR" dirty="0"/>
                    </a:p>
                    <a:p>
                      <a:endParaRPr lang="es-CR" dirty="0"/>
                    </a:p>
                  </a:txBody>
                  <a:tcPr/>
                </a:tc>
                <a:extLst>
                  <a:ext uri="{0D108BD9-81ED-4DB2-BD59-A6C34878D82A}">
                    <a16:rowId xmlns:a16="http://schemas.microsoft.com/office/drawing/2014/main" val="3514225482"/>
                  </a:ext>
                </a:extLst>
              </a:tr>
            </a:tbl>
          </a:graphicData>
        </a:graphic>
      </p:graphicFrame>
      <p:pic>
        <p:nvPicPr>
          <p:cNvPr id="6" name="Picture 5">
            <a:extLst>
              <a:ext uri="{FF2B5EF4-FFF2-40B4-BE49-F238E27FC236}">
                <a16:creationId xmlns:a16="http://schemas.microsoft.com/office/drawing/2014/main" id="{07C6F96F-E59E-2F99-7FDF-BF0CE989CC34}"/>
              </a:ext>
            </a:extLst>
          </p:cNvPr>
          <p:cNvPicPr>
            <a:picLocks noChangeAspect="1"/>
          </p:cNvPicPr>
          <p:nvPr/>
        </p:nvPicPr>
        <p:blipFill>
          <a:blip r:embed="rId3"/>
          <a:srcRect r="-10857" b="32146"/>
          <a:stretch/>
        </p:blipFill>
        <p:spPr>
          <a:xfrm>
            <a:off x="5654619" y="1494588"/>
            <a:ext cx="1717715" cy="723900"/>
          </a:xfrm>
          <a:prstGeom prst="rect">
            <a:avLst/>
          </a:prstGeom>
        </p:spPr>
      </p:pic>
      <p:pic>
        <p:nvPicPr>
          <p:cNvPr id="8" name="Picture 7">
            <a:extLst>
              <a:ext uri="{FF2B5EF4-FFF2-40B4-BE49-F238E27FC236}">
                <a16:creationId xmlns:a16="http://schemas.microsoft.com/office/drawing/2014/main" id="{3AA1EE6C-CD4F-DDFF-DE69-49C15DB30673}"/>
              </a:ext>
            </a:extLst>
          </p:cNvPr>
          <p:cNvPicPr>
            <a:picLocks noChangeAspect="1"/>
          </p:cNvPicPr>
          <p:nvPr/>
        </p:nvPicPr>
        <p:blipFill>
          <a:blip r:embed="rId4"/>
          <a:srcRect l="7815" t="5098" r="144" b="39337"/>
          <a:stretch/>
        </p:blipFill>
        <p:spPr>
          <a:xfrm>
            <a:off x="5578425" y="2325688"/>
            <a:ext cx="2057400" cy="744519"/>
          </a:xfrm>
          <a:prstGeom prst="rect">
            <a:avLst/>
          </a:prstGeom>
        </p:spPr>
      </p:pic>
      <p:pic>
        <p:nvPicPr>
          <p:cNvPr id="10" name="Picture 9">
            <a:extLst>
              <a:ext uri="{FF2B5EF4-FFF2-40B4-BE49-F238E27FC236}">
                <a16:creationId xmlns:a16="http://schemas.microsoft.com/office/drawing/2014/main" id="{92906C3B-F5BB-E30D-8726-57AD30CBED71}"/>
              </a:ext>
            </a:extLst>
          </p:cNvPr>
          <p:cNvPicPr>
            <a:picLocks noChangeAspect="1"/>
          </p:cNvPicPr>
          <p:nvPr/>
        </p:nvPicPr>
        <p:blipFill>
          <a:blip r:embed="rId5"/>
          <a:stretch>
            <a:fillRect/>
          </a:stretch>
        </p:blipFill>
        <p:spPr>
          <a:xfrm>
            <a:off x="5746644" y="3170684"/>
            <a:ext cx="1720961" cy="741478"/>
          </a:xfrm>
          <a:prstGeom prst="rect">
            <a:avLst/>
          </a:prstGeom>
        </p:spPr>
      </p:pic>
      <p:pic>
        <p:nvPicPr>
          <p:cNvPr id="12" name="Picture 11">
            <a:extLst>
              <a:ext uri="{FF2B5EF4-FFF2-40B4-BE49-F238E27FC236}">
                <a16:creationId xmlns:a16="http://schemas.microsoft.com/office/drawing/2014/main" id="{9AFBCDA7-831A-6F54-641F-841382493BEC}"/>
              </a:ext>
            </a:extLst>
          </p:cNvPr>
          <p:cNvPicPr>
            <a:picLocks noChangeAspect="1"/>
          </p:cNvPicPr>
          <p:nvPr/>
        </p:nvPicPr>
        <p:blipFill>
          <a:blip r:embed="rId6"/>
          <a:srcRect t="10990" b="17130"/>
          <a:stretch/>
        </p:blipFill>
        <p:spPr>
          <a:xfrm>
            <a:off x="5810241" y="4012640"/>
            <a:ext cx="1470085" cy="678475"/>
          </a:xfrm>
          <a:prstGeom prst="rect">
            <a:avLst/>
          </a:prstGeom>
        </p:spPr>
      </p:pic>
      <p:pic>
        <p:nvPicPr>
          <p:cNvPr id="14" name="Picture 13">
            <a:extLst>
              <a:ext uri="{FF2B5EF4-FFF2-40B4-BE49-F238E27FC236}">
                <a16:creationId xmlns:a16="http://schemas.microsoft.com/office/drawing/2014/main" id="{A3C910D1-FE91-3FCE-8AD3-63591B845127}"/>
              </a:ext>
            </a:extLst>
          </p:cNvPr>
          <p:cNvPicPr>
            <a:picLocks noChangeAspect="1"/>
          </p:cNvPicPr>
          <p:nvPr/>
        </p:nvPicPr>
        <p:blipFill>
          <a:blip r:embed="rId7"/>
          <a:srcRect t="9559" b="32453"/>
          <a:stretch/>
        </p:blipFill>
        <p:spPr>
          <a:xfrm>
            <a:off x="5746644" y="4763855"/>
            <a:ext cx="1720962" cy="854623"/>
          </a:xfrm>
          <a:prstGeom prst="rect">
            <a:avLst/>
          </a:prstGeom>
        </p:spPr>
      </p:pic>
      <p:pic>
        <p:nvPicPr>
          <p:cNvPr id="16" name="Picture 15">
            <a:extLst>
              <a:ext uri="{FF2B5EF4-FFF2-40B4-BE49-F238E27FC236}">
                <a16:creationId xmlns:a16="http://schemas.microsoft.com/office/drawing/2014/main" id="{F5EA9157-13B8-0380-5B33-8746090C3DDD}"/>
              </a:ext>
            </a:extLst>
          </p:cNvPr>
          <p:cNvPicPr>
            <a:picLocks noChangeAspect="1"/>
          </p:cNvPicPr>
          <p:nvPr/>
        </p:nvPicPr>
        <p:blipFill>
          <a:blip r:embed="rId8"/>
          <a:srcRect b="18684"/>
          <a:stretch/>
        </p:blipFill>
        <p:spPr>
          <a:xfrm>
            <a:off x="5746644" y="5691218"/>
            <a:ext cx="1720961" cy="827109"/>
          </a:xfrm>
          <a:prstGeom prst="rect">
            <a:avLst/>
          </a:prstGeom>
        </p:spPr>
      </p:pic>
    </p:spTree>
    <p:extLst>
      <p:ext uri="{BB962C8B-B14F-4D97-AF65-F5344CB8AC3E}">
        <p14:creationId xmlns:p14="http://schemas.microsoft.com/office/powerpoint/2010/main" val="929831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207CB3C-1BB5-9C9A-52B1-BED43D6D4301}"/>
              </a:ext>
            </a:extLst>
          </p:cNvPr>
          <p:cNvSpPr txBox="1"/>
          <p:nvPr/>
        </p:nvSpPr>
        <p:spPr>
          <a:xfrm>
            <a:off x="3883797" y="179745"/>
            <a:ext cx="3047945" cy="6594681"/>
          </a:xfrm>
          <a:prstGeom prst="rect">
            <a:avLst/>
          </a:prstGeom>
          <a:noFill/>
          <a:ln>
            <a:solidFill>
              <a:schemeClr val="tx1"/>
            </a:solidFill>
          </a:ln>
        </p:spPr>
        <p:txBody>
          <a:bodyPr wrap="square" rtlCol="0">
            <a:spAutoFit/>
          </a:bodyPr>
          <a:lstStyle/>
          <a:p>
            <a:pPr algn="ctr"/>
            <a:r>
              <a:rPr lang="en-US" sz="1600" b="1" dirty="0"/>
              <a:t>FACT TABLE</a:t>
            </a:r>
          </a:p>
          <a:p>
            <a:pPr marL="0" marR="0" algn="ctr">
              <a:lnSpc>
                <a:spcPct val="107000"/>
              </a:lnSpc>
              <a:spcAft>
                <a:spcPts val="800"/>
              </a:spcAft>
            </a:pPr>
            <a:r>
              <a:rPr lang="en-US" sz="1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t>
            </a:r>
            <a:r>
              <a:rPr lang="en-US" sz="1400" kern="100"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customer_id</a:t>
            </a:r>
            <a:r>
              <a:rPr lang="en-US" sz="1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gn="ctr">
              <a:lnSpc>
                <a:spcPct val="107000"/>
              </a:lnSpc>
              <a:spcAft>
                <a:spcPts val="800"/>
              </a:spcAft>
            </a:pPr>
            <a:r>
              <a:rPr lang="en-US" sz="1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t>
            </a:r>
            <a:r>
              <a:rPr lang="en-US" sz="1400" kern="100"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first_name</a:t>
            </a:r>
            <a:r>
              <a:rPr lang="en-US" sz="1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algn="ctr">
              <a:lnSpc>
                <a:spcPct val="107000"/>
              </a:lnSpc>
              <a:spcAft>
                <a:spcPts val="800"/>
              </a:spcAft>
            </a:pPr>
            <a:r>
              <a:rPr lang="en-US" sz="1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t>
            </a:r>
            <a:r>
              <a:rPr lang="en-US" sz="1400" kern="100"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last_name</a:t>
            </a:r>
            <a:r>
              <a:rPr lang="en-US" sz="1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algn="ctr">
              <a:lnSpc>
                <a:spcPct val="107000"/>
              </a:lnSpc>
              <a:spcAft>
                <a:spcPts val="800"/>
              </a:spcAft>
            </a:pPr>
            <a:r>
              <a:rPr lang="en-US" sz="14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[state]</a:t>
            </a:r>
          </a:p>
          <a:p>
            <a:pPr algn="ctr">
              <a:lnSpc>
                <a:spcPct val="107000"/>
              </a:lnSpc>
              <a:spcAft>
                <a:spcPts val="800"/>
              </a:spcAft>
            </a:pPr>
            <a:r>
              <a:rPr lang="en-US" sz="14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a:t>
            </a:r>
            <a:r>
              <a:rPr lang="en-US" sz="1400" kern="100" dirty="0" err="1">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staff_id</a:t>
            </a:r>
            <a:r>
              <a:rPr lang="en-US" sz="14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en-US" sz="14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a:t>
            </a:r>
            <a:r>
              <a:rPr lang="en-US" sz="1400" kern="100" dirty="0" err="1">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first_name</a:t>
            </a:r>
            <a:r>
              <a:rPr lang="en-US" sz="14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a:t>
            </a:r>
          </a:p>
          <a:p>
            <a:pPr algn="ctr">
              <a:lnSpc>
                <a:spcPct val="107000"/>
              </a:lnSpc>
              <a:spcAft>
                <a:spcPts val="800"/>
              </a:spcAft>
            </a:pPr>
            <a:r>
              <a:rPr lang="en-US" sz="14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a:t>
            </a:r>
            <a:r>
              <a:rPr lang="en-US" sz="1400" kern="100" dirty="0" err="1">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last_name</a:t>
            </a:r>
            <a:r>
              <a:rPr lang="en-US" sz="14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a:t>
            </a:r>
          </a:p>
          <a:p>
            <a:pPr algn="ctr">
              <a:lnSpc>
                <a:spcPct val="107000"/>
              </a:lnSpc>
              <a:spcAft>
                <a:spcPts val="800"/>
              </a:spcAft>
            </a:pPr>
            <a:r>
              <a:rPr lang="en-US" sz="14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a:t>
            </a:r>
            <a:r>
              <a:rPr lang="en-US" sz="1400" kern="100" dirty="0" err="1">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store_id</a:t>
            </a:r>
            <a:r>
              <a:rPr lang="en-US" sz="14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gn="ctr">
              <a:lnSpc>
                <a:spcPct val="107000"/>
              </a:lnSpc>
              <a:spcAft>
                <a:spcPts val="800"/>
              </a:spcAft>
            </a:pPr>
            <a:r>
              <a:rPr lang="en-US" sz="14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a:t>
            </a:r>
            <a:r>
              <a:rPr lang="en-US" sz="1400" kern="1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a:t>
            </a:r>
            <a:r>
              <a:rPr lang="en-US" sz="1400" kern="100" dirty="0" err="1">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product_id</a:t>
            </a:r>
            <a:r>
              <a:rPr lang="en-US" sz="1400" kern="1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gn="ctr">
              <a:lnSpc>
                <a:spcPct val="107000"/>
              </a:lnSpc>
              <a:spcAft>
                <a:spcPts val="800"/>
              </a:spcAft>
            </a:pPr>
            <a:r>
              <a:rPr lang="en-US" sz="1400" kern="1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a:t>
            </a:r>
            <a:r>
              <a:rPr lang="en-US" sz="1400" kern="100" dirty="0" err="1">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product_name</a:t>
            </a:r>
            <a:r>
              <a:rPr lang="en-US" sz="1400" kern="1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gn="ctr">
              <a:lnSpc>
                <a:spcPct val="107000"/>
              </a:lnSpc>
              <a:spcAft>
                <a:spcPts val="800"/>
              </a:spcAft>
            </a:pPr>
            <a:r>
              <a:rPr lang="en-US" sz="1400" kern="1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a:t>
            </a:r>
            <a:r>
              <a:rPr lang="en-US" sz="1400" kern="100" dirty="0" err="1">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brand_id</a:t>
            </a:r>
            <a:r>
              <a:rPr lang="en-US" sz="1400" kern="1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 [</a:t>
            </a:r>
            <a:r>
              <a:rPr lang="en-US" sz="1400" kern="100" dirty="0" err="1">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category_id</a:t>
            </a:r>
            <a:r>
              <a:rPr lang="en-US" sz="1400" kern="1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a:t>
            </a:r>
          </a:p>
          <a:p>
            <a:pPr algn="ctr"/>
            <a:r>
              <a:rPr lang="en-US" sz="14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a:t>
            </a:r>
            <a:r>
              <a:rPr lang="en-US" sz="1400" dirty="0" err="1">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list_price</a:t>
            </a:r>
            <a:r>
              <a:rPr lang="en-US" sz="14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a:t>
            </a:r>
          </a:p>
          <a:p>
            <a:pPr algn="ctr"/>
            <a:endParaRPr lang="en-US" sz="1400" dirty="0">
              <a:solidFill>
                <a:schemeClr val="accent2"/>
              </a:solidFill>
            </a:endParaRPr>
          </a:p>
          <a:p>
            <a:pPr marL="0" marR="0" algn="ctr">
              <a:lnSpc>
                <a:spcPct val="107000"/>
              </a:lnSpc>
              <a:spcAft>
                <a:spcPts val="800"/>
              </a:spcAft>
            </a:pPr>
            <a:r>
              <a:rPr lang="en-US" sz="14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a:t>
            </a:r>
            <a:r>
              <a:rPr lang="en-US" sz="1400" kern="100" dirty="0" err="1">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order_id</a:t>
            </a:r>
            <a:r>
              <a:rPr lang="en-US" sz="14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gn="ctr">
              <a:lnSpc>
                <a:spcPct val="107000"/>
              </a:lnSpc>
              <a:spcAft>
                <a:spcPts val="800"/>
              </a:spcAft>
            </a:pPr>
            <a:r>
              <a:rPr lang="en-US" sz="14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a:t>
            </a:r>
            <a:r>
              <a:rPr lang="en-US" sz="1400" kern="100" dirty="0" err="1">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customer_id</a:t>
            </a:r>
            <a:r>
              <a:rPr lang="en-US" sz="14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algn="ctr">
              <a:lnSpc>
                <a:spcPct val="107000"/>
              </a:lnSpc>
              <a:spcAft>
                <a:spcPts val="800"/>
              </a:spcAft>
            </a:pPr>
            <a:r>
              <a:rPr lang="en-US" sz="14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a:t>
            </a:r>
            <a:r>
              <a:rPr lang="en-US" sz="1400" kern="100" dirty="0" err="1">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order_date</a:t>
            </a:r>
            <a:r>
              <a:rPr lang="en-US" sz="14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algn="ctr">
              <a:lnSpc>
                <a:spcPct val="107000"/>
              </a:lnSpc>
              <a:spcAft>
                <a:spcPts val="800"/>
              </a:spcAft>
            </a:pPr>
            <a:r>
              <a:rPr lang="en-US" sz="14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a:t>
            </a:r>
            <a:r>
              <a:rPr lang="en-US" sz="1400" kern="100" dirty="0" err="1">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shipped_date</a:t>
            </a:r>
            <a:r>
              <a:rPr lang="en-US" sz="14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gn="ctr">
              <a:lnSpc>
                <a:spcPct val="107000"/>
              </a:lnSpc>
              <a:spcAft>
                <a:spcPts val="800"/>
              </a:spcAft>
            </a:pPr>
            <a:r>
              <a:rPr lang="en-US" sz="14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a:t>
            </a:r>
            <a:r>
              <a:rPr lang="en-US" sz="1400" kern="100" dirty="0" err="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store_id</a:t>
            </a:r>
            <a:r>
              <a:rPr lang="en-US" sz="14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gn="ctr">
              <a:lnSpc>
                <a:spcPct val="107000"/>
              </a:lnSpc>
              <a:spcAft>
                <a:spcPts val="800"/>
              </a:spcAft>
            </a:pPr>
            <a:r>
              <a:rPr lang="en-US" sz="14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a:t>
            </a:r>
            <a:r>
              <a:rPr lang="en-US" sz="1400" kern="100" dirty="0" err="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store_name</a:t>
            </a:r>
            <a:r>
              <a:rPr lang="en-US" sz="14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gn="ctr">
              <a:lnSpc>
                <a:spcPct val="107000"/>
              </a:lnSpc>
              <a:spcAft>
                <a:spcPts val="800"/>
              </a:spcAft>
            </a:pPr>
            <a:r>
              <a:rPr lang="en-US" sz="14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[state]</a:t>
            </a:r>
            <a:endParaRPr lang="en-US" dirty="0"/>
          </a:p>
        </p:txBody>
      </p:sp>
      <p:sp>
        <p:nvSpPr>
          <p:cNvPr id="5" name="TextBox 4">
            <a:extLst>
              <a:ext uri="{FF2B5EF4-FFF2-40B4-BE49-F238E27FC236}">
                <a16:creationId xmlns:a16="http://schemas.microsoft.com/office/drawing/2014/main" id="{57E68D49-5F92-F7C4-9727-D61F9D644CB5}"/>
              </a:ext>
            </a:extLst>
          </p:cNvPr>
          <p:cNvSpPr txBox="1"/>
          <p:nvPr/>
        </p:nvSpPr>
        <p:spPr>
          <a:xfrm>
            <a:off x="647272" y="503434"/>
            <a:ext cx="2013735" cy="1851725"/>
          </a:xfrm>
          <a:prstGeom prst="rect">
            <a:avLst/>
          </a:prstGeom>
          <a:noFill/>
        </p:spPr>
        <p:txBody>
          <a:bodyPr wrap="square" rtlCol="0">
            <a:spAutoFit/>
          </a:bodyPr>
          <a:lstStyle/>
          <a:p>
            <a:r>
              <a:rPr lang="en-US" dirty="0">
                <a:solidFill>
                  <a:srgbClr val="FF0000"/>
                </a:solidFill>
              </a:rPr>
              <a:t>Customers</a:t>
            </a:r>
          </a:p>
          <a:p>
            <a:pPr marL="0" marR="0">
              <a:lnSpc>
                <a:spcPct val="107000"/>
              </a:lnSpc>
              <a:spcAft>
                <a:spcPts val="800"/>
              </a:spcAft>
            </a:pPr>
            <a:r>
              <a:rPr lang="en-US"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customer_id</a:t>
            </a:r>
            <a:r>
              <a:rPr lang="en-US"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Aft>
                <a:spcPts val="800"/>
              </a:spcAft>
            </a:pPr>
            <a:r>
              <a:rPr lang="en-US"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first_name</a:t>
            </a:r>
            <a:r>
              <a:rPr lang="en-US"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Aft>
                <a:spcPts val="800"/>
              </a:spcAft>
            </a:pPr>
            <a:r>
              <a:rPr lang="en-US"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err="1">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last_name</a:t>
            </a:r>
            <a:r>
              <a:rPr lang="en-US"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Aft>
                <a:spcPts val="800"/>
              </a:spcAft>
            </a:pPr>
            <a:r>
              <a:rPr lang="en-US" sz="1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[state]</a:t>
            </a:r>
            <a:endParaRPr lang="en-US" dirty="0">
              <a:solidFill>
                <a:srgbClr val="FF0000"/>
              </a:solidFill>
            </a:endParaRPr>
          </a:p>
        </p:txBody>
      </p:sp>
      <p:sp>
        <p:nvSpPr>
          <p:cNvPr id="6" name="TextBox 5">
            <a:extLst>
              <a:ext uri="{FF2B5EF4-FFF2-40B4-BE49-F238E27FC236}">
                <a16:creationId xmlns:a16="http://schemas.microsoft.com/office/drawing/2014/main" id="{92651B3B-B349-1E6B-2DA0-2EEFF434823E}"/>
              </a:ext>
            </a:extLst>
          </p:cNvPr>
          <p:cNvSpPr txBox="1"/>
          <p:nvPr/>
        </p:nvSpPr>
        <p:spPr>
          <a:xfrm>
            <a:off x="9060095" y="5225485"/>
            <a:ext cx="1931541" cy="1452770"/>
          </a:xfrm>
          <a:prstGeom prst="rect">
            <a:avLst/>
          </a:prstGeom>
          <a:noFill/>
        </p:spPr>
        <p:txBody>
          <a:bodyPr wrap="square" rtlCol="0">
            <a:spAutoFit/>
          </a:bodyPr>
          <a:lstStyle/>
          <a:p>
            <a:r>
              <a:rPr lang="en-US" dirty="0">
                <a:solidFill>
                  <a:srgbClr val="00B0F0"/>
                </a:solidFill>
              </a:rPr>
              <a:t>Stores</a:t>
            </a:r>
          </a:p>
          <a:p>
            <a:pPr marL="0" marR="0">
              <a:lnSpc>
                <a:spcPct val="107000"/>
              </a:lnSpc>
              <a:spcAft>
                <a:spcPts val="800"/>
              </a:spcAft>
            </a:pPr>
            <a:r>
              <a:rPr lang="en-US" sz="18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err="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store_id</a:t>
            </a:r>
            <a:r>
              <a:rPr lang="en-US" sz="18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Aft>
                <a:spcPts val="800"/>
              </a:spcAft>
            </a:pPr>
            <a:r>
              <a:rPr lang="en-US" sz="18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err="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store_name</a:t>
            </a:r>
            <a:r>
              <a:rPr lang="en-US" sz="18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Aft>
                <a:spcPts val="800"/>
              </a:spcAft>
            </a:pPr>
            <a:r>
              <a:rPr lang="en-US" sz="18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[state]</a:t>
            </a:r>
            <a:endParaRPr lang="en-US" dirty="0">
              <a:solidFill>
                <a:srgbClr val="00B0F0"/>
              </a:solidFill>
            </a:endParaRPr>
          </a:p>
        </p:txBody>
      </p:sp>
      <p:sp>
        <p:nvSpPr>
          <p:cNvPr id="7" name="TextBox 6">
            <a:extLst>
              <a:ext uri="{FF2B5EF4-FFF2-40B4-BE49-F238E27FC236}">
                <a16:creationId xmlns:a16="http://schemas.microsoft.com/office/drawing/2014/main" id="{04EE9115-DA8B-2CC6-F615-0675F0E4BCC0}"/>
              </a:ext>
            </a:extLst>
          </p:cNvPr>
          <p:cNvSpPr txBox="1"/>
          <p:nvPr/>
        </p:nvSpPr>
        <p:spPr>
          <a:xfrm>
            <a:off x="647272" y="2516362"/>
            <a:ext cx="1931541" cy="1543949"/>
          </a:xfrm>
          <a:prstGeom prst="rect">
            <a:avLst/>
          </a:prstGeom>
          <a:noFill/>
        </p:spPr>
        <p:txBody>
          <a:bodyPr wrap="square" rtlCol="0">
            <a:spAutoFit/>
          </a:bodyPr>
          <a:lstStyle/>
          <a:p>
            <a:r>
              <a:rPr lang="en-US" dirty="0">
                <a:solidFill>
                  <a:schemeClr val="tx2"/>
                </a:solidFill>
              </a:rPr>
              <a:t>Staffs</a:t>
            </a:r>
          </a:p>
          <a:p>
            <a:pPr marL="0" marR="0">
              <a:lnSpc>
                <a:spcPct val="107000"/>
              </a:lnSpc>
              <a:spcAft>
                <a:spcPts val="800"/>
              </a:spcAft>
            </a:pPr>
            <a:r>
              <a:rPr lang="en-US" sz="1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err="1">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staff_id</a:t>
            </a:r>
            <a:r>
              <a:rPr lang="en-US" sz="1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first_name</a:t>
            </a:r>
            <a:r>
              <a:rPr lang="en-US" sz="1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last_name</a:t>
            </a:r>
            <a:r>
              <a:rPr lang="en-US" sz="1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store_id</a:t>
            </a:r>
            <a:r>
              <a:rPr lang="en-US" sz="1800" kern="1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a:t>
            </a:r>
            <a:endParaRPr lang="en-US" dirty="0">
              <a:solidFill>
                <a:schemeClr val="tx2"/>
              </a:solidFill>
            </a:endParaRPr>
          </a:p>
        </p:txBody>
      </p:sp>
      <p:sp>
        <p:nvSpPr>
          <p:cNvPr id="8" name="TextBox 7">
            <a:extLst>
              <a:ext uri="{FF2B5EF4-FFF2-40B4-BE49-F238E27FC236}">
                <a16:creationId xmlns:a16="http://schemas.microsoft.com/office/drawing/2014/main" id="{634873CA-F58C-5821-82C0-524938F1DCF1}"/>
              </a:ext>
            </a:extLst>
          </p:cNvPr>
          <p:cNvSpPr txBox="1"/>
          <p:nvPr/>
        </p:nvSpPr>
        <p:spPr>
          <a:xfrm>
            <a:off x="647272" y="4330391"/>
            <a:ext cx="1931541" cy="2139560"/>
          </a:xfrm>
          <a:prstGeom prst="rect">
            <a:avLst/>
          </a:prstGeom>
          <a:noFill/>
        </p:spPr>
        <p:txBody>
          <a:bodyPr wrap="square" rtlCol="0">
            <a:spAutoFit/>
          </a:bodyPr>
          <a:lstStyle/>
          <a:p>
            <a:r>
              <a:rPr lang="en-US" dirty="0">
                <a:solidFill>
                  <a:schemeClr val="accent2"/>
                </a:solidFill>
              </a:rPr>
              <a:t>Products</a:t>
            </a:r>
          </a:p>
          <a:p>
            <a:pPr marL="0" marR="0">
              <a:lnSpc>
                <a:spcPct val="107000"/>
              </a:lnSpc>
              <a:spcAft>
                <a:spcPts val="800"/>
              </a:spcAft>
            </a:pPr>
            <a:r>
              <a:rPr lang="en-US" sz="1800" kern="1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err="1">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product_id</a:t>
            </a:r>
            <a:r>
              <a:rPr lang="en-US" sz="1800" kern="1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Aft>
                <a:spcPts val="800"/>
              </a:spcAft>
            </a:pPr>
            <a:r>
              <a:rPr lang="en-US" sz="1800" kern="1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err="1">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product_name</a:t>
            </a:r>
            <a:r>
              <a:rPr lang="en-US" sz="1800" kern="1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Aft>
                <a:spcPts val="800"/>
              </a:spcAft>
            </a:pPr>
            <a:r>
              <a:rPr lang="en-US" sz="1800" kern="1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err="1">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brand_id</a:t>
            </a:r>
            <a:r>
              <a:rPr lang="en-US" sz="1800" kern="1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category_id</a:t>
            </a:r>
            <a:r>
              <a:rPr lang="en-US" sz="1800" kern="1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a:t>
            </a:r>
          </a:p>
          <a:p>
            <a:r>
              <a:rPr lang="en-US" sz="18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a:t>
            </a:r>
            <a:r>
              <a:rPr lang="en-US" sz="1800" dirty="0" err="1">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list_price</a:t>
            </a:r>
            <a:r>
              <a:rPr lang="en-US" sz="18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a:t>
            </a:r>
            <a:endParaRPr lang="en-US" dirty="0">
              <a:solidFill>
                <a:schemeClr val="accent2"/>
              </a:solidFill>
            </a:endParaRPr>
          </a:p>
        </p:txBody>
      </p:sp>
      <p:sp>
        <p:nvSpPr>
          <p:cNvPr id="9" name="TextBox 8">
            <a:extLst>
              <a:ext uri="{FF2B5EF4-FFF2-40B4-BE49-F238E27FC236}">
                <a16:creationId xmlns:a16="http://schemas.microsoft.com/office/drawing/2014/main" id="{07A6AB15-8BC4-D413-5E73-FF1B517718B3}"/>
              </a:ext>
            </a:extLst>
          </p:cNvPr>
          <p:cNvSpPr txBox="1"/>
          <p:nvPr/>
        </p:nvSpPr>
        <p:spPr>
          <a:xfrm>
            <a:off x="9060094" y="2691713"/>
            <a:ext cx="1931541" cy="2250681"/>
          </a:xfrm>
          <a:prstGeom prst="rect">
            <a:avLst/>
          </a:prstGeom>
          <a:noFill/>
        </p:spPr>
        <p:txBody>
          <a:bodyPr wrap="square" rtlCol="0">
            <a:spAutoFit/>
          </a:bodyPr>
          <a:lstStyle/>
          <a:p>
            <a:r>
              <a:rPr lang="en-US" dirty="0" err="1">
                <a:solidFill>
                  <a:schemeClr val="accent5"/>
                </a:solidFill>
              </a:rPr>
              <a:t>OrdersItems</a:t>
            </a:r>
            <a:endParaRPr lang="en-US" dirty="0">
              <a:solidFill>
                <a:schemeClr val="accent5"/>
              </a:solidFill>
            </a:endParaRPr>
          </a:p>
          <a:p>
            <a:pPr marL="0" marR="0">
              <a:lnSpc>
                <a:spcPct val="107000"/>
              </a:lnSpc>
              <a:spcAft>
                <a:spcPts val="800"/>
              </a:spcAft>
            </a:pPr>
            <a:r>
              <a:rPr lang="en-US" sz="1800" kern="100" dirty="0">
                <a:solidFill>
                  <a:schemeClr val="accent5"/>
                </a:solidFill>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err="1">
                <a:solidFill>
                  <a:schemeClr val="accent5"/>
                </a:solidFill>
                <a:effectLst/>
                <a:latin typeface="Calibri" panose="020F0502020204030204" pitchFamily="34" charset="0"/>
                <a:ea typeface="Calibri" panose="020F0502020204030204" pitchFamily="34" charset="0"/>
                <a:cs typeface="Times New Roman" panose="02020603050405020304" pitchFamily="18" charset="0"/>
              </a:rPr>
              <a:t>order_id</a:t>
            </a:r>
            <a:r>
              <a:rPr lang="en-US" sz="1800" kern="100" dirty="0">
                <a:solidFill>
                  <a:schemeClr val="accent5"/>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Aft>
                <a:spcPts val="800"/>
              </a:spcAft>
            </a:pPr>
            <a:r>
              <a:rPr lang="en-US" sz="1800" kern="100" dirty="0">
                <a:solidFill>
                  <a:schemeClr val="accent5"/>
                </a:solidFill>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err="1">
                <a:solidFill>
                  <a:schemeClr val="accent5"/>
                </a:solidFill>
                <a:effectLst/>
                <a:latin typeface="Calibri" panose="020F0502020204030204" pitchFamily="34" charset="0"/>
                <a:ea typeface="Calibri" panose="020F0502020204030204" pitchFamily="34" charset="0"/>
                <a:cs typeface="Times New Roman" panose="02020603050405020304" pitchFamily="18" charset="0"/>
              </a:rPr>
              <a:t>product_id</a:t>
            </a:r>
            <a:r>
              <a:rPr lang="en-US" sz="1800" kern="100" dirty="0">
                <a:solidFill>
                  <a:schemeClr val="accent5"/>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Aft>
                <a:spcPts val="800"/>
              </a:spcAft>
            </a:pPr>
            <a:r>
              <a:rPr lang="en-US" sz="1800" kern="100" dirty="0">
                <a:solidFill>
                  <a:schemeClr val="accent5"/>
                </a:solidFill>
                <a:effectLst/>
                <a:latin typeface="Calibri" panose="020F0502020204030204" pitchFamily="34" charset="0"/>
                <a:ea typeface="Calibri" panose="020F0502020204030204" pitchFamily="34" charset="0"/>
                <a:cs typeface="Times New Roman" panose="02020603050405020304" pitchFamily="18" charset="0"/>
              </a:rPr>
              <a:t>[quantity] </a:t>
            </a:r>
          </a:p>
          <a:p>
            <a:pPr marL="0" marR="0">
              <a:lnSpc>
                <a:spcPct val="107000"/>
              </a:lnSpc>
              <a:spcAft>
                <a:spcPts val="800"/>
              </a:spcAft>
            </a:pPr>
            <a:r>
              <a:rPr lang="en-US" sz="1800" kern="100" dirty="0">
                <a:solidFill>
                  <a:schemeClr val="accent5"/>
                </a:solidFill>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err="1">
                <a:solidFill>
                  <a:schemeClr val="accent5"/>
                </a:solidFill>
                <a:effectLst/>
                <a:latin typeface="Calibri" panose="020F0502020204030204" pitchFamily="34" charset="0"/>
                <a:ea typeface="Calibri" panose="020F0502020204030204" pitchFamily="34" charset="0"/>
                <a:cs typeface="Times New Roman" panose="02020603050405020304" pitchFamily="18" charset="0"/>
              </a:rPr>
              <a:t>list_price</a:t>
            </a:r>
            <a:r>
              <a:rPr lang="en-US" sz="1800" kern="100" dirty="0">
                <a:solidFill>
                  <a:schemeClr val="accent5"/>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Aft>
                <a:spcPts val="800"/>
              </a:spcAft>
            </a:pPr>
            <a:r>
              <a:rPr lang="en-US" sz="1800" kern="100" dirty="0">
                <a:solidFill>
                  <a:schemeClr val="accent5"/>
                </a:solidFill>
                <a:effectLst/>
                <a:latin typeface="Calibri" panose="020F0502020204030204" pitchFamily="34" charset="0"/>
                <a:ea typeface="Calibri" panose="020F0502020204030204" pitchFamily="34" charset="0"/>
                <a:cs typeface="Times New Roman" panose="02020603050405020304" pitchFamily="18" charset="0"/>
              </a:rPr>
              <a:t>[discount] </a:t>
            </a:r>
            <a:endParaRPr lang="en-US" dirty="0">
              <a:solidFill>
                <a:schemeClr val="accent5"/>
              </a:solidFill>
            </a:endParaRPr>
          </a:p>
        </p:txBody>
      </p:sp>
      <p:sp>
        <p:nvSpPr>
          <p:cNvPr id="10" name="TextBox 9">
            <a:extLst>
              <a:ext uri="{FF2B5EF4-FFF2-40B4-BE49-F238E27FC236}">
                <a16:creationId xmlns:a16="http://schemas.microsoft.com/office/drawing/2014/main" id="{3AAFD0F9-E9EE-9F58-1274-596F66ECD7B7}"/>
              </a:ext>
            </a:extLst>
          </p:cNvPr>
          <p:cNvSpPr txBox="1"/>
          <p:nvPr/>
        </p:nvSpPr>
        <p:spPr>
          <a:xfrm>
            <a:off x="9060094" y="179745"/>
            <a:ext cx="1931541" cy="2239267"/>
          </a:xfrm>
          <a:prstGeom prst="rect">
            <a:avLst/>
          </a:prstGeom>
          <a:noFill/>
        </p:spPr>
        <p:txBody>
          <a:bodyPr wrap="square" rtlCol="0">
            <a:spAutoFit/>
          </a:bodyPr>
          <a:lstStyle/>
          <a:p>
            <a:r>
              <a:rPr lang="en-US" dirty="0">
                <a:solidFill>
                  <a:schemeClr val="accent6"/>
                </a:solidFill>
              </a:rPr>
              <a:t>Orders</a:t>
            </a:r>
          </a:p>
          <a:p>
            <a:pPr marL="0" marR="0">
              <a:lnSpc>
                <a:spcPct val="107000"/>
              </a:lnSpc>
              <a:spcAft>
                <a:spcPts val="800"/>
              </a:spcAft>
            </a:pPr>
            <a:r>
              <a:rPr lang="en-US" sz="18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err="1">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order_id</a:t>
            </a:r>
            <a:r>
              <a:rPr lang="en-US" sz="18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Aft>
                <a:spcPts val="800"/>
              </a:spcAft>
            </a:pPr>
            <a:r>
              <a:rPr lang="en-US" sz="18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err="1">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customer_id</a:t>
            </a:r>
            <a:r>
              <a:rPr lang="en-US" sz="18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order_date</a:t>
            </a:r>
            <a:r>
              <a:rPr lang="en-US" sz="18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shipped_date</a:t>
            </a:r>
            <a:r>
              <a:rPr lang="en-US" sz="18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staff_id</a:t>
            </a:r>
            <a:r>
              <a:rPr lang="en-US" sz="18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a:t>
            </a:r>
            <a:r>
              <a:rPr lang="en-US" sz="1800" dirty="0" err="1">
                <a:solidFill>
                  <a:schemeClr val="accent6"/>
                </a:solidFill>
                <a:effectLst/>
                <a:latin typeface="Calibri" panose="020F0502020204030204" pitchFamily="34" charset="0"/>
                <a:ea typeface="Calibri" panose="020F0502020204030204" pitchFamily="34" charset="0"/>
                <a:cs typeface="Times New Roman" panose="02020603050405020304" pitchFamily="18" charset="0"/>
              </a:rPr>
              <a:t>store_id</a:t>
            </a:r>
            <a:r>
              <a:rPr lang="en-US" dirty="0">
                <a:solidFill>
                  <a:schemeClr val="accent6"/>
                </a:solidFill>
                <a:latin typeface="Calibri" panose="020F0502020204030204" pitchFamily="34" charset="0"/>
                <a:ea typeface="Calibri" panose="020F0502020204030204" pitchFamily="34" charset="0"/>
                <a:cs typeface="Times New Roman" panose="02020603050405020304" pitchFamily="18" charset="0"/>
              </a:rPr>
              <a:t>]</a:t>
            </a:r>
            <a:endParaRPr lang="en-US" dirty="0">
              <a:solidFill>
                <a:schemeClr val="accent6"/>
              </a:solidFill>
            </a:endParaRPr>
          </a:p>
        </p:txBody>
      </p:sp>
      <p:cxnSp>
        <p:nvCxnSpPr>
          <p:cNvPr id="3" name="Straight Arrow Connector 2">
            <a:extLst>
              <a:ext uri="{FF2B5EF4-FFF2-40B4-BE49-F238E27FC236}">
                <a16:creationId xmlns:a16="http://schemas.microsoft.com/office/drawing/2014/main" id="{5CB7C27E-2C6C-71CC-443B-F71DAEB99744}"/>
              </a:ext>
            </a:extLst>
          </p:cNvPr>
          <p:cNvCxnSpPr>
            <a:cxnSpLocks/>
          </p:cNvCxnSpPr>
          <p:nvPr/>
        </p:nvCxnSpPr>
        <p:spPr>
          <a:xfrm>
            <a:off x="2352672" y="1429296"/>
            <a:ext cx="1222790" cy="0"/>
          </a:xfrm>
          <a:prstGeom prst="straightConnector1">
            <a:avLst/>
          </a:prstGeom>
          <a:ln w="571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B8F9526-465D-3628-54E5-C13C11ADF974}"/>
              </a:ext>
            </a:extLst>
          </p:cNvPr>
          <p:cNvCxnSpPr>
            <a:cxnSpLocks/>
          </p:cNvCxnSpPr>
          <p:nvPr/>
        </p:nvCxnSpPr>
        <p:spPr>
          <a:xfrm>
            <a:off x="2338005" y="3429000"/>
            <a:ext cx="1304984" cy="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1BD78DC-A62D-D254-F5A9-ACA08A0FCFB0}"/>
              </a:ext>
            </a:extLst>
          </p:cNvPr>
          <p:cNvCxnSpPr>
            <a:cxnSpLocks/>
          </p:cNvCxnSpPr>
          <p:nvPr/>
        </p:nvCxnSpPr>
        <p:spPr>
          <a:xfrm>
            <a:off x="2426413" y="5708979"/>
            <a:ext cx="1304984" cy="1"/>
          </a:xfrm>
          <a:prstGeom prst="straightConnector1">
            <a:avLst/>
          </a:prstGeom>
          <a:ln w="5715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054C71B-D01D-5043-B0B2-1BDAEC567BCB}"/>
              </a:ext>
            </a:extLst>
          </p:cNvPr>
          <p:cNvCxnSpPr>
            <a:cxnSpLocks/>
          </p:cNvCxnSpPr>
          <p:nvPr/>
        </p:nvCxnSpPr>
        <p:spPr>
          <a:xfrm flipH="1">
            <a:off x="7572375" y="1429296"/>
            <a:ext cx="1257300" cy="0"/>
          </a:xfrm>
          <a:prstGeom prst="straightConnector1">
            <a:avLst/>
          </a:prstGeom>
          <a:ln w="57150">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40D337E5-F8F6-3832-25FC-3F4A1118EFEE}"/>
              </a:ext>
            </a:extLst>
          </p:cNvPr>
          <p:cNvCxnSpPr>
            <a:cxnSpLocks/>
          </p:cNvCxnSpPr>
          <p:nvPr/>
        </p:nvCxnSpPr>
        <p:spPr>
          <a:xfrm flipH="1">
            <a:off x="7572375" y="5867946"/>
            <a:ext cx="1257300" cy="0"/>
          </a:xfrm>
          <a:prstGeom prst="straightConnector1">
            <a:avLst/>
          </a:prstGeom>
          <a:ln w="57150">
            <a:solidFill>
              <a:schemeClr val="accent4"/>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D5DC055E-078F-7B55-08DD-042E9098AF72}"/>
              </a:ext>
            </a:extLst>
          </p:cNvPr>
          <p:cNvCxnSpPr>
            <a:cxnSpLocks/>
          </p:cNvCxnSpPr>
          <p:nvPr/>
        </p:nvCxnSpPr>
        <p:spPr>
          <a:xfrm flipH="1">
            <a:off x="7572375" y="3934371"/>
            <a:ext cx="1257300" cy="0"/>
          </a:xfrm>
          <a:prstGeom prst="straightConnector1">
            <a:avLst/>
          </a:prstGeom>
          <a:ln w="57150">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092D7AA1-8A26-8C8D-E87E-1261B8FCC364}"/>
              </a:ext>
            </a:extLst>
          </p:cNvPr>
          <p:cNvSpPr txBox="1"/>
          <p:nvPr/>
        </p:nvSpPr>
        <p:spPr>
          <a:xfrm>
            <a:off x="11344060" y="6249769"/>
            <a:ext cx="847940" cy="646331"/>
          </a:xfrm>
          <a:prstGeom prst="rect">
            <a:avLst/>
          </a:prstGeom>
          <a:noFill/>
        </p:spPr>
        <p:txBody>
          <a:bodyPr wrap="square" rtlCol="0">
            <a:spAutoFit/>
          </a:bodyPr>
          <a:lstStyle/>
          <a:p>
            <a:pPr algn="ctr"/>
            <a:r>
              <a:rPr lang="en-US" b="1" i="1" dirty="0">
                <a:solidFill>
                  <a:schemeClr val="bg1">
                    <a:lumMod val="65000"/>
                    <a:lumOff val="35000"/>
                  </a:schemeClr>
                </a:solidFill>
              </a:rPr>
              <a:t>Dim date</a:t>
            </a:r>
          </a:p>
        </p:txBody>
      </p:sp>
      <p:sp>
        <p:nvSpPr>
          <p:cNvPr id="2" name="TextBox 1">
            <a:extLst>
              <a:ext uri="{FF2B5EF4-FFF2-40B4-BE49-F238E27FC236}">
                <a16:creationId xmlns:a16="http://schemas.microsoft.com/office/drawing/2014/main" id="{E841FEBE-3C89-B5F3-BAFC-A3E139087527}"/>
              </a:ext>
            </a:extLst>
          </p:cNvPr>
          <p:cNvSpPr txBox="1"/>
          <p:nvPr/>
        </p:nvSpPr>
        <p:spPr>
          <a:xfrm>
            <a:off x="0" y="19065"/>
            <a:ext cx="11544728" cy="369332"/>
          </a:xfrm>
          <a:prstGeom prst="rect">
            <a:avLst/>
          </a:prstGeom>
          <a:noFill/>
        </p:spPr>
        <p:txBody>
          <a:bodyPr wrap="square" rtlCol="0">
            <a:spAutoFit/>
          </a:bodyPr>
          <a:lstStyle/>
          <a:p>
            <a:r>
              <a:rPr lang="en-US" dirty="0"/>
              <a:t>Scheme</a:t>
            </a:r>
          </a:p>
        </p:txBody>
      </p:sp>
    </p:spTree>
    <p:extLst>
      <p:ext uri="{BB962C8B-B14F-4D97-AF65-F5344CB8AC3E}">
        <p14:creationId xmlns:p14="http://schemas.microsoft.com/office/powerpoint/2010/main" val="431984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AB6BD-877F-9C5C-298F-6E34C8253619}"/>
              </a:ext>
            </a:extLst>
          </p:cNvPr>
          <p:cNvSpPr>
            <a:spLocks noGrp="1"/>
          </p:cNvSpPr>
          <p:nvPr>
            <p:ph type="title"/>
          </p:nvPr>
        </p:nvSpPr>
        <p:spPr/>
        <p:txBody>
          <a:bodyPr/>
          <a:lstStyle/>
          <a:p>
            <a:r>
              <a:rPr lang="es-CR" dirty="0" err="1"/>
              <a:t>Tableau</a:t>
            </a:r>
            <a:endParaRPr lang="en-US" dirty="0"/>
          </a:p>
        </p:txBody>
      </p:sp>
      <p:pic>
        <p:nvPicPr>
          <p:cNvPr id="7" name="Picture 6" descr="A close-up of a graph&#10;&#10;AI-generated content may be incorrect.">
            <a:extLst>
              <a:ext uri="{FF2B5EF4-FFF2-40B4-BE49-F238E27FC236}">
                <a16:creationId xmlns:a16="http://schemas.microsoft.com/office/drawing/2014/main" id="{44CDD3BB-9880-A305-3B2F-B2BFE3F877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175" y="1690688"/>
            <a:ext cx="6934200" cy="4621258"/>
          </a:xfrm>
          <a:prstGeom prst="rect">
            <a:avLst/>
          </a:prstGeom>
        </p:spPr>
      </p:pic>
      <p:sp>
        <p:nvSpPr>
          <p:cNvPr id="8" name="TextBox 7">
            <a:extLst>
              <a:ext uri="{FF2B5EF4-FFF2-40B4-BE49-F238E27FC236}">
                <a16:creationId xmlns:a16="http://schemas.microsoft.com/office/drawing/2014/main" id="{8202396C-3B6A-A8B9-205C-6E2AA07D802E}"/>
              </a:ext>
            </a:extLst>
          </p:cNvPr>
          <p:cNvSpPr txBox="1"/>
          <p:nvPr/>
        </p:nvSpPr>
        <p:spPr>
          <a:xfrm>
            <a:off x="8429625" y="1504950"/>
            <a:ext cx="2924175" cy="5078313"/>
          </a:xfrm>
          <a:prstGeom prst="rect">
            <a:avLst/>
          </a:prstGeom>
          <a:noFill/>
        </p:spPr>
        <p:txBody>
          <a:bodyPr wrap="square" rtlCol="0">
            <a:spAutoFit/>
          </a:bodyPr>
          <a:lstStyle/>
          <a:p>
            <a:r>
              <a:rPr lang="es-CR" dirty="0"/>
              <a:t>Sales </a:t>
            </a:r>
            <a:r>
              <a:rPr lang="es-CR" dirty="0" err="1"/>
              <a:t>Trend</a:t>
            </a:r>
            <a:r>
              <a:rPr lang="es-CR" dirty="0"/>
              <a:t> </a:t>
            </a:r>
            <a:r>
              <a:rPr lang="es-CR" dirty="0" err="1"/>
              <a:t>by</a:t>
            </a:r>
            <a:r>
              <a:rPr lang="es-CR" dirty="0"/>
              <a:t> Store</a:t>
            </a:r>
          </a:p>
          <a:p>
            <a:endParaRPr lang="es-CR" dirty="0"/>
          </a:p>
          <a:p>
            <a:endParaRPr lang="es-CR" dirty="0"/>
          </a:p>
          <a:p>
            <a:r>
              <a:rPr lang="es-CR" dirty="0"/>
              <a:t>Sales </a:t>
            </a:r>
            <a:r>
              <a:rPr lang="es-CR" dirty="0" err="1"/>
              <a:t>distribution</a:t>
            </a:r>
            <a:r>
              <a:rPr lang="es-CR" dirty="0"/>
              <a:t> </a:t>
            </a:r>
            <a:r>
              <a:rPr lang="es-CR" dirty="0" err="1"/>
              <a:t>by</a:t>
            </a:r>
            <a:r>
              <a:rPr lang="es-CR" dirty="0"/>
              <a:t> </a:t>
            </a:r>
            <a:r>
              <a:rPr lang="es-CR" dirty="0" err="1"/>
              <a:t>Product</a:t>
            </a:r>
            <a:endParaRPr lang="es-CR" dirty="0"/>
          </a:p>
          <a:p>
            <a:endParaRPr lang="es-CR" dirty="0"/>
          </a:p>
          <a:p>
            <a:endParaRPr lang="es-CR" dirty="0"/>
          </a:p>
          <a:p>
            <a:r>
              <a:rPr lang="es-CR" dirty="0" err="1"/>
              <a:t>Days</a:t>
            </a:r>
            <a:r>
              <a:rPr lang="es-CR" dirty="0"/>
              <a:t> </a:t>
            </a:r>
            <a:r>
              <a:rPr lang="es-CR" dirty="0" err="1"/>
              <a:t>between</a:t>
            </a:r>
            <a:r>
              <a:rPr lang="es-CR" dirty="0"/>
              <a:t> </a:t>
            </a:r>
            <a:r>
              <a:rPr lang="es-CR" dirty="0" err="1"/>
              <a:t>order</a:t>
            </a:r>
            <a:r>
              <a:rPr lang="es-CR" dirty="0"/>
              <a:t> and </a:t>
            </a:r>
            <a:r>
              <a:rPr lang="es-CR" dirty="0" err="1"/>
              <a:t>shipping</a:t>
            </a:r>
            <a:r>
              <a:rPr lang="es-CR" dirty="0"/>
              <a:t> date</a:t>
            </a:r>
          </a:p>
          <a:p>
            <a:endParaRPr lang="es-CR" dirty="0"/>
          </a:p>
          <a:p>
            <a:endParaRPr lang="es-CR" dirty="0"/>
          </a:p>
          <a:p>
            <a:r>
              <a:rPr lang="es-CR" dirty="0"/>
              <a:t>Top </a:t>
            </a:r>
            <a:r>
              <a:rPr lang="es-CR" dirty="0" err="1"/>
              <a:t>of</a:t>
            </a:r>
            <a:r>
              <a:rPr lang="es-CR" dirty="0"/>
              <a:t> total sales </a:t>
            </a:r>
            <a:r>
              <a:rPr lang="es-CR" dirty="0" err="1"/>
              <a:t>by</a:t>
            </a:r>
            <a:r>
              <a:rPr lang="es-CR" dirty="0"/>
              <a:t> </a:t>
            </a:r>
            <a:r>
              <a:rPr lang="es-CR" dirty="0" err="1"/>
              <a:t>customer</a:t>
            </a:r>
            <a:endParaRPr lang="es-CR" dirty="0"/>
          </a:p>
          <a:p>
            <a:endParaRPr lang="es-CR" dirty="0"/>
          </a:p>
          <a:p>
            <a:r>
              <a:rPr lang="es-ES" dirty="0">
                <a:hlinkClick r:id="rId3"/>
              </a:rPr>
              <a:t>proyecto_final_2 | </a:t>
            </a:r>
            <a:r>
              <a:rPr lang="es-ES" dirty="0" err="1">
                <a:hlinkClick r:id="rId3"/>
              </a:rPr>
              <a:t>Tableau</a:t>
            </a:r>
            <a:r>
              <a:rPr lang="es-ES" dirty="0">
                <a:hlinkClick r:id="rId3"/>
              </a:rPr>
              <a:t> </a:t>
            </a:r>
            <a:r>
              <a:rPr lang="es-ES" dirty="0" err="1">
                <a:hlinkClick r:id="rId3"/>
              </a:rPr>
              <a:t>Public</a:t>
            </a:r>
            <a:endParaRPr lang="es-CR" dirty="0"/>
          </a:p>
          <a:p>
            <a:endParaRPr lang="es-CR" dirty="0"/>
          </a:p>
          <a:p>
            <a:endParaRPr lang="en-US" dirty="0"/>
          </a:p>
        </p:txBody>
      </p:sp>
    </p:spTree>
    <p:extLst>
      <p:ext uri="{BB962C8B-B14F-4D97-AF65-F5344CB8AC3E}">
        <p14:creationId xmlns:p14="http://schemas.microsoft.com/office/powerpoint/2010/main" val="3559501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2BEEA06-B1A0-0314-F749-70EF15B3EAA9}"/>
              </a:ext>
            </a:extLst>
          </p:cNvPr>
          <p:cNvGraphicFramePr>
            <a:graphicFrameLocks noGrp="1"/>
          </p:cNvGraphicFramePr>
          <p:nvPr>
            <p:ph idx="1"/>
            <p:extLst>
              <p:ext uri="{D42A27DB-BD31-4B8C-83A1-F6EECF244321}">
                <p14:modId xmlns:p14="http://schemas.microsoft.com/office/powerpoint/2010/main" val="2665211832"/>
              </p:ext>
            </p:extLst>
          </p:nvPr>
        </p:nvGraphicFramePr>
        <p:xfrm>
          <a:off x="190501" y="257175"/>
          <a:ext cx="11782424" cy="6210300"/>
        </p:xfrm>
        <a:graphic>
          <a:graphicData uri="http://schemas.openxmlformats.org/drawingml/2006/table">
            <a:tbl>
              <a:tblPr firstRow="1" bandRow="1">
                <a:tableStyleId>{5C22544A-7EE6-4342-B048-85BDC9FD1C3A}</a:tableStyleId>
              </a:tblPr>
              <a:tblGrid>
                <a:gridCol w="5828282">
                  <a:extLst>
                    <a:ext uri="{9D8B030D-6E8A-4147-A177-3AD203B41FA5}">
                      <a16:colId xmlns:a16="http://schemas.microsoft.com/office/drawing/2014/main" val="1164899635"/>
                    </a:ext>
                  </a:extLst>
                </a:gridCol>
                <a:gridCol w="5954142">
                  <a:extLst>
                    <a:ext uri="{9D8B030D-6E8A-4147-A177-3AD203B41FA5}">
                      <a16:colId xmlns:a16="http://schemas.microsoft.com/office/drawing/2014/main" val="2035745719"/>
                    </a:ext>
                  </a:extLst>
                </a:gridCol>
              </a:tblGrid>
              <a:tr h="2995043">
                <a:tc>
                  <a:txBody>
                    <a:bodyPr/>
                    <a:lstStyle/>
                    <a:p>
                      <a:r>
                        <a:rPr lang="es-CR" sz="1400" b="1" dirty="0" err="1">
                          <a:solidFill>
                            <a:schemeClr val="tx1"/>
                          </a:solidFill>
                          <a:latin typeface="+mn-lt"/>
                        </a:rPr>
                        <a:t>Objective</a:t>
                      </a:r>
                      <a:r>
                        <a:rPr lang="es-CR" sz="1400" b="1" dirty="0">
                          <a:solidFill>
                            <a:schemeClr val="tx1"/>
                          </a:solidFill>
                          <a:latin typeface="+mn-lt"/>
                        </a:rPr>
                        <a:t> 1</a:t>
                      </a:r>
                    </a:p>
                    <a:p>
                      <a:endParaRPr lang="es-CR" sz="1400" b="0" dirty="0">
                        <a:solidFill>
                          <a:schemeClr val="tx1"/>
                        </a:solidFill>
                        <a:latin typeface="+mn-lt"/>
                      </a:endParaRPr>
                    </a:p>
                    <a:p>
                      <a:pPr marL="285750" lvl="0" indent="-285750" algn="just">
                        <a:buFont typeface="Arial" panose="020B0604020202020204" pitchFamily="34" charset="0"/>
                        <a:buChar char="•"/>
                      </a:pPr>
                      <a:r>
                        <a:rPr lang="en-US" sz="1400" dirty="0"/>
                        <a:t>The chart shows the average sales trends over time for each store.</a:t>
                      </a:r>
                      <a:br>
                        <a:rPr lang="en-US" sz="1400" dirty="0"/>
                      </a:br>
                      <a:r>
                        <a:rPr lang="en-US" sz="1400" dirty="0"/>
                        <a:t>Baldwin Bikes exhibits significant sales peaks in certain months (for example, in August 2017), which may indicate special sales events or seasonal patterns.</a:t>
                      </a:r>
                    </a:p>
                    <a:p>
                      <a:pPr marL="285750" lvl="0" indent="-285750" algn="just">
                        <a:buFont typeface="Arial" panose="020B0604020202020204" pitchFamily="34" charset="0"/>
                        <a:buChar char="•"/>
                      </a:pPr>
                      <a:r>
                        <a:rPr lang="en-US" sz="1400" dirty="0"/>
                        <a:t>Rowlett Bikes and Santa Cruz Bikes display smaller fluctuations in comparison, with more stable trends overall.</a:t>
                      </a:r>
                    </a:p>
                    <a:p>
                      <a:pPr marL="285750" lvl="0" indent="-285750" algn="just">
                        <a:buFont typeface="Arial" panose="020B0604020202020204" pitchFamily="34" charset="0"/>
                        <a:buChar char="•"/>
                      </a:pPr>
                      <a:r>
                        <a:rPr lang="en-US" sz="1400" dirty="0"/>
                        <a:t>Sales at Santa Cruz Bikes appear to decline in the most recent months, which may suggest a drop in demand or potential inventory issues.</a:t>
                      </a:r>
                      <a:endParaRPr lang="en-US" sz="1400" b="0" dirty="0">
                        <a:solidFill>
                          <a:schemeClr val="tx1"/>
                        </a:solidFill>
                        <a:latin typeface="+mn-lt"/>
                      </a:endParaRPr>
                    </a:p>
                  </a:txBody>
                  <a:tcPr/>
                </a:tc>
                <a:tc>
                  <a:txBody>
                    <a:bodyPr/>
                    <a:lstStyle/>
                    <a:p>
                      <a:r>
                        <a:rPr lang="es-CR" sz="1400" b="1" dirty="0" err="1">
                          <a:solidFill>
                            <a:schemeClr val="tx1"/>
                          </a:solidFill>
                          <a:latin typeface="+mn-lt"/>
                        </a:rPr>
                        <a:t>Objective</a:t>
                      </a:r>
                      <a:r>
                        <a:rPr lang="es-CR" sz="1400" b="1" dirty="0">
                          <a:solidFill>
                            <a:schemeClr val="tx1"/>
                          </a:solidFill>
                          <a:latin typeface="+mn-lt"/>
                        </a:rPr>
                        <a:t> 2</a:t>
                      </a:r>
                    </a:p>
                    <a:p>
                      <a:endParaRPr lang="es-CR" sz="1400" b="0" dirty="0">
                        <a:solidFill>
                          <a:schemeClr val="tx1"/>
                        </a:solidFill>
                        <a:latin typeface="+mn-lt"/>
                      </a:endParaRPr>
                    </a:p>
                    <a:p>
                      <a:pPr marL="285750" lvl="0" indent="-285750" algn="just">
                        <a:buFont typeface="Arial" panose="020B0604020202020204" pitchFamily="34" charset="0"/>
                        <a:buChar char="•"/>
                      </a:pPr>
                      <a:r>
                        <a:rPr lang="en-US" sz="1400" dirty="0"/>
                        <a:t>The best-selling products come primarily from Baldwin Bikes, with items such as the </a:t>
                      </a:r>
                      <a:r>
                        <a:rPr lang="en-US" sz="1400" b="1" dirty="0"/>
                        <a:t>Trek Slash 8 27.5 (2016)</a:t>
                      </a:r>
                      <a:r>
                        <a:rPr lang="en-US" sz="1400" dirty="0"/>
                        <a:t> and </a:t>
                      </a:r>
                      <a:r>
                        <a:rPr lang="en-US" sz="1400" b="1" dirty="0"/>
                        <a:t>Trek Fuel EX 8 29 (2016)</a:t>
                      </a:r>
                      <a:r>
                        <a:rPr lang="en-US" sz="1400" dirty="0"/>
                        <a:t> standing out with the highest sales.</a:t>
                      </a:r>
                    </a:p>
                    <a:p>
                      <a:pPr marL="285750" lvl="0" indent="-285750" algn="just">
                        <a:buFont typeface="Arial" panose="020B0604020202020204" pitchFamily="34" charset="0"/>
                        <a:buChar char="•"/>
                      </a:pPr>
                      <a:r>
                        <a:rPr lang="en-US" sz="1400" dirty="0"/>
                        <a:t>The </a:t>
                      </a:r>
                      <a:r>
                        <a:rPr lang="en-US" sz="1400" b="1" dirty="0"/>
                        <a:t>Trek Boone 7 (2017)</a:t>
                      </a:r>
                      <a:r>
                        <a:rPr lang="en-US" sz="1400" dirty="0"/>
                        <a:t> also shows significant sales, suggesting that these products are popular and should continue to be prioritized in inventory.</a:t>
                      </a:r>
                    </a:p>
                    <a:p>
                      <a:pPr marL="285750" lvl="0" indent="-285750" algn="just">
                        <a:buFont typeface="Arial" panose="020B0604020202020204" pitchFamily="34" charset="0"/>
                        <a:buChar char="•"/>
                      </a:pPr>
                      <a:r>
                        <a:rPr lang="en-US" sz="1400" dirty="0"/>
                        <a:t>The lower-selling products appear grouped toward the end of the chart, indicating reduced demand for those models.</a:t>
                      </a:r>
                    </a:p>
                    <a:p>
                      <a:pPr marL="285750" lvl="0" indent="-285750" algn="just">
                        <a:buFont typeface="Arial" panose="020B0604020202020204" pitchFamily="34" charset="0"/>
                        <a:buChar char="•"/>
                      </a:pPr>
                      <a:endParaRPr lang="es-ES" sz="1400" b="0" dirty="0">
                        <a:solidFill>
                          <a:schemeClr val="tx1"/>
                        </a:solidFill>
                        <a:latin typeface="+mn-lt"/>
                      </a:endParaRPr>
                    </a:p>
                  </a:txBody>
                  <a:tcPr>
                    <a:solidFill>
                      <a:schemeClr val="accent3"/>
                    </a:solidFill>
                  </a:tcPr>
                </a:tc>
                <a:extLst>
                  <a:ext uri="{0D108BD9-81ED-4DB2-BD59-A6C34878D82A}">
                    <a16:rowId xmlns:a16="http://schemas.microsoft.com/office/drawing/2014/main" val="3625679661"/>
                  </a:ext>
                </a:extLst>
              </a:tr>
              <a:tr h="3215257">
                <a:tc>
                  <a:txBody>
                    <a:bodyPr/>
                    <a:lstStyle/>
                    <a:p>
                      <a:pPr marL="0" lvl="0" indent="0">
                        <a:buFont typeface="Arial" panose="020B0604020202020204" pitchFamily="34" charset="0"/>
                        <a:buNone/>
                      </a:pPr>
                      <a:r>
                        <a:rPr lang="es-ES" sz="1400" b="1" dirty="0">
                          <a:solidFill>
                            <a:schemeClr val="tx1"/>
                          </a:solidFill>
                          <a:latin typeface="+mn-lt"/>
                        </a:rPr>
                        <a:t>Objetivo 3</a:t>
                      </a:r>
                    </a:p>
                    <a:p>
                      <a:pPr marL="0" lvl="0" indent="0">
                        <a:buFont typeface="Arial" panose="020B0604020202020204" pitchFamily="34" charset="0"/>
                        <a:buNone/>
                      </a:pPr>
                      <a:endParaRPr lang="es-ES" sz="1400" b="0" dirty="0">
                        <a:solidFill>
                          <a:schemeClr val="tx1"/>
                        </a:solidFill>
                        <a:latin typeface="+mn-lt"/>
                      </a:endParaRPr>
                    </a:p>
                    <a:p>
                      <a:pPr marL="285750" lvl="0" indent="-285750" algn="just">
                        <a:buFont typeface="Arial" panose="020B0604020202020204" pitchFamily="34" charset="0"/>
                        <a:buChar char="•"/>
                      </a:pPr>
                      <a:r>
                        <a:rPr lang="en-US" sz="1400" b="1" dirty="0">
                          <a:solidFill>
                            <a:schemeClr val="tx1"/>
                          </a:solidFill>
                        </a:rPr>
                        <a:t>Baldwin Bikes shows greater variability in inventory days, with some years displaying longer times between the order and the shipment, which may indicate logistical issues or inventory shortages.</a:t>
                      </a:r>
                    </a:p>
                    <a:p>
                      <a:pPr marL="285750" lvl="0" indent="-285750" algn="just">
                        <a:buFont typeface="Arial" panose="020B0604020202020204" pitchFamily="34" charset="0"/>
                        <a:buChar char="•"/>
                      </a:pPr>
                      <a:r>
                        <a:rPr lang="en-US" sz="1400" b="1" dirty="0">
                          <a:solidFill>
                            <a:schemeClr val="tx1"/>
                          </a:solidFill>
                        </a:rPr>
                        <a:t>Rowlett Bikes improved significantly in 2018, with reduced delivery times, suggesting an enhancement in operational efficiency.</a:t>
                      </a:r>
                    </a:p>
                    <a:p>
                      <a:pPr marL="285750" lvl="0" indent="-285750" algn="just">
                        <a:buFont typeface="Arial" panose="020B0604020202020204" pitchFamily="34" charset="0"/>
                        <a:buChar char="•"/>
                      </a:pPr>
                      <a:r>
                        <a:rPr lang="en-US" sz="1400" b="1" dirty="0">
                          <a:solidFill>
                            <a:schemeClr val="tx1"/>
                          </a:solidFill>
                        </a:rPr>
                        <a:t>Santa Cruz Bikes also shows longer times in 2018, which may be a sign of delays or supply chain problems.</a:t>
                      </a:r>
                      <a:endParaRPr lang="en-US" sz="1400" b="1" dirty="0">
                        <a:solidFill>
                          <a:schemeClr val="tx1"/>
                        </a:solidFill>
                        <a:latin typeface="+mn-lt"/>
                      </a:endParaRPr>
                    </a:p>
                  </a:txBody>
                  <a:tcPr>
                    <a:solidFill>
                      <a:schemeClr val="accent5"/>
                    </a:solidFill>
                  </a:tcPr>
                </a:tc>
                <a:tc>
                  <a:txBody>
                    <a:bodyPr/>
                    <a:lstStyle/>
                    <a:p>
                      <a:pPr marL="0" lvl="0" indent="0">
                        <a:buFont typeface="Arial" panose="020B0604020202020204" pitchFamily="34" charset="0"/>
                        <a:buNone/>
                      </a:pPr>
                      <a:r>
                        <a:rPr lang="es-ES" sz="1400" b="1" dirty="0">
                          <a:solidFill>
                            <a:schemeClr val="tx1"/>
                          </a:solidFill>
                          <a:latin typeface="+mn-lt"/>
                        </a:rPr>
                        <a:t>Objetivo 4</a:t>
                      </a:r>
                    </a:p>
                    <a:p>
                      <a:pPr marL="0" lvl="0" indent="0">
                        <a:buFont typeface="Arial" panose="020B0604020202020204" pitchFamily="34" charset="0"/>
                        <a:buNone/>
                      </a:pPr>
                      <a:endParaRPr lang="es-ES" sz="1400" b="0" dirty="0">
                        <a:solidFill>
                          <a:schemeClr val="tx1"/>
                        </a:solidFill>
                        <a:latin typeface="+mn-lt"/>
                      </a:endParaRPr>
                    </a:p>
                    <a:p>
                      <a:pPr marL="285750" lvl="0" indent="-285750" algn="just">
                        <a:buFont typeface="Arial" panose="020B0604020202020204" pitchFamily="34" charset="0"/>
                        <a:buChar char="•"/>
                      </a:pPr>
                      <a:r>
                        <a:rPr lang="en-US" sz="1400" b="1" dirty="0">
                          <a:solidFill>
                            <a:schemeClr val="tx1"/>
                          </a:solidFill>
                        </a:rPr>
                        <a:t>The customers with the highest sales are identified in this chart, with customers 95, 108, and 167 contributing significantly to total revenue.</a:t>
                      </a:r>
                    </a:p>
                    <a:p>
                      <a:pPr marL="285750" lvl="0" indent="-285750" algn="just">
                        <a:buFont typeface="Arial" panose="020B0604020202020204" pitchFamily="34" charset="0"/>
                        <a:buChar char="•"/>
                      </a:pPr>
                      <a:r>
                        <a:rPr lang="en-US" sz="1400" b="1" dirty="0">
                          <a:solidFill>
                            <a:schemeClr val="tx1"/>
                          </a:solidFill>
                        </a:rPr>
                        <a:t>These customers should be considered high-value, and implementing retention strategies or personalized marketing is recommended.</a:t>
                      </a:r>
                    </a:p>
                    <a:p>
                      <a:pPr marL="285750" lvl="0" indent="-285750" algn="just">
                        <a:buFont typeface="Arial" panose="020B0604020202020204" pitchFamily="34" charset="0"/>
                        <a:buChar char="•"/>
                      </a:pPr>
                      <a:r>
                        <a:rPr lang="en-US" sz="1400" b="1" dirty="0">
                          <a:solidFill>
                            <a:schemeClr val="tx1"/>
                          </a:solidFill>
                        </a:rPr>
                        <a:t>The relatively even distribution among the remaining customers shows that a diverse group contributes to total sales, which suggests a solid customer base but also highlights opportunities to improve customer loyalty.</a:t>
                      </a:r>
                      <a:endParaRPr lang="en-US" sz="1400" b="1" dirty="0">
                        <a:solidFill>
                          <a:schemeClr val="tx1"/>
                        </a:solidFill>
                        <a:latin typeface="+mn-lt"/>
                      </a:endParaRPr>
                    </a:p>
                  </a:txBody>
                  <a:tcPr>
                    <a:solidFill>
                      <a:schemeClr val="accent6"/>
                    </a:solidFill>
                  </a:tcPr>
                </a:tc>
                <a:extLst>
                  <a:ext uri="{0D108BD9-81ED-4DB2-BD59-A6C34878D82A}">
                    <a16:rowId xmlns:a16="http://schemas.microsoft.com/office/drawing/2014/main" val="3112865028"/>
                  </a:ext>
                </a:extLst>
              </a:tr>
            </a:tbl>
          </a:graphicData>
        </a:graphic>
      </p:graphicFrame>
    </p:spTree>
    <p:extLst>
      <p:ext uri="{BB962C8B-B14F-4D97-AF65-F5344CB8AC3E}">
        <p14:creationId xmlns:p14="http://schemas.microsoft.com/office/powerpoint/2010/main" val="1248971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116C3-C98E-0C3C-4E63-7FFDEC6107E7}"/>
              </a:ext>
            </a:extLst>
          </p:cNvPr>
          <p:cNvSpPr>
            <a:spLocks noGrp="1"/>
          </p:cNvSpPr>
          <p:nvPr>
            <p:ph type="title"/>
          </p:nvPr>
        </p:nvSpPr>
        <p:spPr/>
        <p:txBody>
          <a:bodyPr/>
          <a:lstStyle/>
          <a:p>
            <a:r>
              <a:rPr lang="es-CR" dirty="0"/>
              <a:t>A priori </a:t>
            </a:r>
            <a:r>
              <a:rPr lang="es-CR" dirty="0" err="1"/>
              <a:t>algorithm</a:t>
            </a:r>
            <a:r>
              <a:rPr lang="es-CR" dirty="0"/>
              <a:t> in R</a:t>
            </a:r>
            <a:endParaRPr lang="en-US" dirty="0"/>
          </a:p>
        </p:txBody>
      </p:sp>
      <p:sp>
        <p:nvSpPr>
          <p:cNvPr id="3" name="Content Placeholder 2">
            <a:extLst>
              <a:ext uri="{FF2B5EF4-FFF2-40B4-BE49-F238E27FC236}">
                <a16:creationId xmlns:a16="http://schemas.microsoft.com/office/drawing/2014/main" id="{9C461BB2-21F1-0E85-8B08-EFD9DD36690B}"/>
              </a:ext>
            </a:extLst>
          </p:cNvPr>
          <p:cNvSpPr>
            <a:spLocks noGrp="1"/>
          </p:cNvSpPr>
          <p:nvPr>
            <p:ph idx="1"/>
          </p:nvPr>
        </p:nvSpPr>
        <p:spPr/>
        <p:txBody>
          <a:bodyPr/>
          <a:lstStyle/>
          <a:p>
            <a:r>
              <a:rPr lang="es-CR" dirty="0" err="1"/>
              <a:t>Kaggle</a:t>
            </a:r>
            <a:r>
              <a:rPr lang="es-CR" dirty="0"/>
              <a:t> Diabetes data set: </a:t>
            </a:r>
            <a:r>
              <a:rPr lang="es-CR" dirty="0">
                <a:hlinkClick r:id="rId2"/>
              </a:rPr>
              <a:t>https://www.kaggle.com/datasets/hosammhmdali/diabetes-dataset</a:t>
            </a:r>
            <a:endParaRPr lang="es-CR" dirty="0"/>
          </a:p>
          <a:p>
            <a:pPr algn="just"/>
            <a:r>
              <a:rPr lang="en-US" dirty="0"/>
              <a:t>There are 22 factors described in the dataset, and an arbitrary preselection was performed.</a:t>
            </a:r>
          </a:p>
        </p:txBody>
      </p:sp>
      <p:pic>
        <p:nvPicPr>
          <p:cNvPr id="5" name="Picture 4" descr="A screenshot of a table&#10;&#10;AI-generated content may be incorrect.">
            <a:extLst>
              <a:ext uri="{FF2B5EF4-FFF2-40B4-BE49-F238E27FC236}">
                <a16:creationId xmlns:a16="http://schemas.microsoft.com/office/drawing/2014/main" id="{F647E1B1-8315-3B3C-EB0F-C49B13BCCF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4425" y="4277199"/>
            <a:ext cx="3619612" cy="2302912"/>
          </a:xfrm>
          <a:prstGeom prst="rect">
            <a:avLst/>
          </a:prstGeom>
        </p:spPr>
      </p:pic>
      <p:sp>
        <p:nvSpPr>
          <p:cNvPr id="6" name="TextBox 5">
            <a:extLst>
              <a:ext uri="{FF2B5EF4-FFF2-40B4-BE49-F238E27FC236}">
                <a16:creationId xmlns:a16="http://schemas.microsoft.com/office/drawing/2014/main" id="{3149CD2A-B4FB-BD9D-2211-19CDC3D57711}"/>
              </a:ext>
            </a:extLst>
          </p:cNvPr>
          <p:cNvSpPr txBox="1"/>
          <p:nvPr/>
        </p:nvSpPr>
        <p:spPr>
          <a:xfrm>
            <a:off x="5086462" y="5059323"/>
            <a:ext cx="6915038" cy="369332"/>
          </a:xfrm>
          <a:prstGeom prst="rect">
            <a:avLst/>
          </a:prstGeom>
          <a:noFill/>
        </p:spPr>
        <p:txBody>
          <a:bodyPr wrap="square" rtlCol="0">
            <a:spAutoFit/>
          </a:bodyPr>
          <a:lstStyle/>
          <a:p>
            <a:r>
              <a:rPr lang="es-CR" dirty="0" err="1"/>
              <a:t>Events</a:t>
            </a:r>
            <a:r>
              <a:rPr lang="es-CR" dirty="0"/>
              <a:t> (</a:t>
            </a:r>
            <a:r>
              <a:rPr lang="es-CR" dirty="0" err="1"/>
              <a:t>HighBP</a:t>
            </a:r>
            <a:r>
              <a:rPr lang="es-CR" dirty="0"/>
              <a:t>, </a:t>
            </a:r>
            <a:r>
              <a:rPr lang="es-CR" dirty="0" err="1"/>
              <a:t>HighChol</a:t>
            </a:r>
            <a:r>
              <a:rPr lang="es-CR" dirty="0"/>
              <a:t>, </a:t>
            </a:r>
            <a:r>
              <a:rPr lang="es-CR" dirty="0" err="1"/>
              <a:t>CholCheck</a:t>
            </a:r>
            <a:r>
              <a:rPr lang="es-CR" dirty="0"/>
              <a:t>, </a:t>
            </a:r>
            <a:r>
              <a:rPr lang="es-CR" dirty="0" err="1"/>
              <a:t>Smoker</a:t>
            </a:r>
            <a:r>
              <a:rPr lang="es-CR" dirty="0"/>
              <a:t>)</a:t>
            </a:r>
            <a:r>
              <a:rPr lang="en-US" dirty="0"/>
              <a:t>-&gt;Event(Diabetes)</a:t>
            </a:r>
          </a:p>
        </p:txBody>
      </p:sp>
    </p:spTree>
    <p:extLst>
      <p:ext uri="{BB962C8B-B14F-4D97-AF65-F5344CB8AC3E}">
        <p14:creationId xmlns:p14="http://schemas.microsoft.com/office/powerpoint/2010/main" val="917626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F5975-CBBB-934B-D4F6-7CDF69C7549E}"/>
              </a:ext>
            </a:extLst>
          </p:cNvPr>
          <p:cNvSpPr>
            <a:spLocks noGrp="1"/>
          </p:cNvSpPr>
          <p:nvPr>
            <p:ph type="title"/>
          </p:nvPr>
        </p:nvSpPr>
        <p:spPr/>
        <p:txBody>
          <a:bodyPr/>
          <a:lstStyle/>
          <a:p>
            <a:r>
              <a:rPr lang="en-US" dirty="0"/>
              <a:t>A priori algorithm in R </a:t>
            </a:r>
          </a:p>
        </p:txBody>
      </p:sp>
      <p:sp>
        <p:nvSpPr>
          <p:cNvPr id="3" name="Content Placeholder 2">
            <a:extLst>
              <a:ext uri="{FF2B5EF4-FFF2-40B4-BE49-F238E27FC236}">
                <a16:creationId xmlns:a16="http://schemas.microsoft.com/office/drawing/2014/main" id="{3A2DBFC1-C3EE-5D98-310D-82DAB9A876B8}"/>
              </a:ext>
            </a:extLst>
          </p:cNvPr>
          <p:cNvSpPr>
            <a:spLocks noGrp="1"/>
          </p:cNvSpPr>
          <p:nvPr>
            <p:ph idx="1"/>
          </p:nvPr>
        </p:nvSpPr>
        <p:spPr/>
        <p:txBody>
          <a:bodyPr>
            <a:normAutofit lnSpcReduction="10000"/>
          </a:bodyPr>
          <a:lstStyle/>
          <a:p>
            <a:pPr algn="just"/>
            <a:r>
              <a:rPr lang="es-ES" dirty="0"/>
              <a:t>Objetivo: Obtener la posibilidad de tener diabetes dato las condiciones de alta </a:t>
            </a:r>
            <a:r>
              <a:rPr lang="es-ES" dirty="0" err="1"/>
              <a:t>presion</a:t>
            </a:r>
            <a:r>
              <a:rPr lang="es-ES" dirty="0"/>
              <a:t> arterial (</a:t>
            </a:r>
            <a:r>
              <a:rPr lang="es-ES" dirty="0" err="1"/>
              <a:t>HighBP</a:t>
            </a:r>
            <a:r>
              <a:rPr lang="es-ES" dirty="0"/>
              <a:t>), colesterol alto (</a:t>
            </a:r>
            <a:r>
              <a:rPr lang="es-ES" dirty="0" err="1"/>
              <a:t>HighChol</a:t>
            </a:r>
            <a:r>
              <a:rPr lang="es-ES" dirty="0"/>
              <a:t>), chequeo de colesterol (</a:t>
            </a:r>
            <a:r>
              <a:rPr lang="es-ES" dirty="0" err="1"/>
              <a:t>CholCheck</a:t>
            </a:r>
            <a:r>
              <a:rPr lang="es-ES" dirty="0"/>
              <a:t>) y persona fumadora (</a:t>
            </a:r>
            <a:r>
              <a:rPr lang="es-ES" dirty="0" err="1"/>
              <a:t>Smoker</a:t>
            </a:r>
            <a:r>
              <a:rPr lang="es-ES" dirty="0"/>
              <a:t>). Eventos (A,B,C,D) -&gt; Evento (diabetes)</a:t>
            </a:r>
          </a:p>
          <a:p>
            <a:pPr algn="just"/>
            <a:r>
              <a:rPr lang="es-ES" dirty="0"/>
              <a:t>Métricas:</a:t>
            </a:r>
          </a:p>
          <a:p>
            <a:pPr lvl="1" algn="just"/>
            <a:r>
              <a:rPr lang="es-ES" dirty="0"/>
              <a:t> Soporte: mide la frecuencia con la que ocurre una combinación de elementos (reglas) en el conjunto de datos.</a:t>
            </a:r>
          </a:p>
          <a:p>
            <a:pPr lvl="1" algn="just"/>
            <a:r>
              <a:rPr lang="es-ES" dirty="0"/>
              <a:t> Confianza: mide la probabilidad de que el lado derecho (</a:t>
            </a:r>
            <a:r>
              <a:rPr lang="es-ES" dirty="0" err="1"/>
              <a:t>rhs</a:t>
            </a:r>
            <a:r>
              <a:rPr lang="es-ES" dirty="0"/>
              <a:t>) de la regla ocurra dado que el lado izquierdo (</a:t>
            </a:r>
            <a:r>
              <a:rPr lang="es-ES" dirty="0" err="1"/>
              <a:t>lhs</a:t>
            </a:r>
            <a:r>
              <a:rPr lang="es-ES" dirty="0"/>
              <a:t>) de la regla es cierto-</a:t>
            </a:r>
          </a:p>
          <a:p>
            <a:pPr lvl="1" algn="just"/>
            <a:r>
              <a:rPr lang="es-ES" dirty="0" err="1"/>
              <a:t>Lift</a:t>
            </a:r>
            <a:r>
              <a:rPr lang="es-ES" dirty="0"/>
              <a:t>: fuerza de la asociación entre los elementos del </a:t>
            </a:r>
            <a:r>
              <a:rPr lang="es-ES" dirty="0" err="1"/>
              <a:t>lhs</a:t>
            </a:r>
            <a:r>
              <a:rPr lang="es-ES" dirty="0"/>
              <a:t> y </a:t>
            </a:r>
            <a:r>
              <a:rPr lang="es-ES" dirty="0" err="1"/>
              <a:t>rhs</a:t>
            </a:r>
            <a:r>
              <a:rPr lang="es-ES" dirty="0"/>
              <a:t> en la regla.</a:t>
            </a:r>
          </a:p>
          <a:p>
            <a:pPr lvl="1" algn="just"/>
            <a:r>
              <a:rPr lang="es-ES" dirty="0" err="1"/>
              <a:t>Coverage</a:t>
            </a:r>
            <a:r>
              <a:rPr lang="es-ES" dirty="0"/>
              <a:t>: </a:t>
            </a:r>
            <a:endParaRPr lang="en-US" dirty="0"/>
          </a:p>
        </p:txBody>
      </p:sp>
    </p:spTree>
    <p:extLst>
      <p:ext uri="{BB962C8B-B14F-4D97-AF65-F5344CB8AC3E}">
        <p14:creationId xmlns:p14="http://schemas.microsoft.com/office/powerpoint/2010/main" val="3774491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6BD8F-459D-69F7-3A2D-900FA02D1799}"/>
              </a:ext>
            </a:extLst>
          </p:cNvPr>
          <p:cNvSpPr>
            <a:spLocks noGrp="1"/>
          </p:cNvSpPr>
          <p:nvPr>
            <p:ph type="title"/>
          </p:nvPr>
        </p:nvSpPr>
        <p:spPr/>
        <p:txBody>
          <a:bodyPr/>
          <a:lstStyle/>
          <a:p>
            <a:r>
              <a:rPr lang="en-US"/>
              <a:t>Results</a:t>
            </a:r>
            <a:endParaRPr lang="en-US" dirty="0"/>
          </a:p>
        </p:txBody>
      </p:sp>
      <p:pic>
        <p:nvPicPr>
          <p:cNvPr id="5" name="Content Placeholder 4">
            <a:extLst>
              <a:ext uri="{FF2B5EF4-FFF2-40B4-BE49-F238E27FC236}">
                <a16:creationId xmlns:a16="http://schemas.microsoft.com/office/drawing/2014/main" id="{F39F3C42-3FDF-15F3-5DB7-ECE2ED3BA3AE}"/>
              </a:ext>
            </a:extLst>
          </p:cNvPr>
          <p:cNvPicPr>
            <a:picLocks noGrp="1" noChangeAspect="1"/>
          </p:cNvPicPr>
          <p:nvPr>
            <p:ph idx="1"/>
          </p:nvPr>
        </p:nvPicPr>
        <p:blipFill>
          <a:blip r:embed="rId2"/>
          <a:stretch>
            <a:fillRect/>
          </a:stretch>
        </p:blipFill>
        <p:spPr>
          <a:xfrm>
            <a:off x="2435037" y="1387244"/>
            <a:ext cx="7321926" cy="3492679"/>
          </a:xfrm>
        </p:spPr>
      </p:pic>
      <p:sp>
        <p:nvSpPr>
          <p:cNvPr id="7" name="TextBox 6">
            <a:extLst>
              <a:ext uri="{FF2B5EF4-FFF2-40B4-BE49-F238E27FC236}">
                <a16:creationId xmlns:a16="http://schemas.microsoft.com/office/drawing/2014/main" id="{D377F366-B9CB-4BA8-3496-1387688A0F1A}"/>
              </a:ext>
            </a:extLst>
          </p:cNvPr>
          <p:cNvSpPr txBox="1"/>
          <p:nvPr/>
        </p:nvSpPr>
        <p:spPr>
          <a:xfrm>
            <a:off x="538620" y="5294076"/>
            <a:ext cx="11110456" cy="1569660"/>
          </a:xfrm>
          <a:prstGeom prst="rect">
            <a:avLst/>
          </a:prstGeom>
          <a:noFill/>
        </p:spPr>
        <p:txBody>
          <a:bodyPr wrap="square">
            <a:spAutoFit/>
          </a:bodyPr>
          <a:lstStyle/>
          <a:p>
            <a:pPr algn="just"/>
            <a:r>
              <a:rPr lang="en-US" sz="1600" b="1" dirty="0"/>
              <a:t>Rule: {Smoker = 1, </a:t>
            </a:r>
            <a:r>
              <a:rPr lang="en-US" sz="1600" b="1" dirty="0" err="1"/>
              <a:t>Diabetes_binary</a:t>
            </a:r>
            <a:r>
              <a:rPr lang="en-US" sz="1600" b="1" dirty="0"/>
              <a:t> = 1} ⇒ {</a:t>
            </a:r>
            <a:r>
              <a:rPr lang="en-US" sz="1600" b="1" dirty="0" err="1"/>
              <a:t>CholCheck</a:t>
            </a:r>
            <a:r>
              <a:rPr lang="en-US" sz="1600" b="1" dirty="0"/>
              <a:t> = 1}</a:t>
            </a:r>
            <a:br>
              <a:rPr lang="en-US" sz="1600" dirty="0"/>
            </a:br>
            <a:r>
              <a:rPr lang="en-US" sz="1600" dirty="0"/>
              <a:t>This rule indicates that smokers with diabetes have a </a:t>
            </a:r>
            <a:r>
              <a:rPr lang="en-US" sz="1600" b="1" dirty="0"/>
              <a:t>99.21% probability</a:t>
            </a:r>
            <a:r>
              <a:rPr lang="en-US" sz="1600" dirty="0"/>
              <a:t> of undergoing a cholesterol check.</a:t>
            </a:r>
            <a:br>
              <a:rPr lang="en-US" sz="1600" dirty="0"/>
            </a:br>
            <a:r>
              <a:rPr lang="en-US" sz="1600" dirty="0"/>
              <a:t>The </a:t>
            </a:r>
            <a:r>
              <a:rPr lang="en-US" sz="1600" b="1" dirty="0"/>
              <a:t>support</a:t>
            </a:r>
            <a:r>
              <a:rPr lang="en-US" sz="1600" dirty="0"/>
              <a:t> is </a:t>
            </a:r>
            <a:r>
              <a:rPr lang="en-US" sz="1600" b="1" dirty="0"/>
              <a:t>25.71%</a:t>
            </a:r>
            <a:r>
              <a:rPr lang="en-US" sz="1600" dirty="0"/>
              <a:t>, meaning this rule is relatively common among smokers with diabetes who receive cholesterol screenings.</a:t>
            </a:r>
            <a:br>
              <a:rPr lang="en-US" sz="1600" dirty="0"/>
            </a:br>
            <a:r>
              <a:rPr lang="en-US" sz="1600" dirty="0"/>
              <a:t>The </a:t>
            </a:r>
            <a:r>
              <a:rPr lang="en-US" sz="1600" b="1" dirty="0"/>
              <a:t>confidence</a:t>
            </a:r>
            <a:r>
              <a:rPr lang="en-US" sz="1600" dirty="0"/>
              <a:t> of </a:t>
            </a:r>
            <a:r>
              <a:rPr lang="en-US" sz="1600" b="1" dirty="0"/>
              <a:t>99.21%</a:t>
            </a:r>
            <a:r>
              <a:rPr lang="en-US" sz="1600" dirty="0"/>
              <a:t> confirms that when these two conditions are present, a cholesterol check is almost guaranteed.</a:t>
            </a:r>
            <a:br>
              <a:rPr lang="en-US" sz="1600" dirty="0"/>
            </a:br>
            <a:r>
              <a:rPr lang="en-US" sz="1600" dirty="0"/>
              <a:t>The </a:t>
            </a:r>
            <a:r>
              <a:rPr lang="en-US" sz="1600" b="1" dirty="0"/>
              <a:t>lift</a:t>
            </a:r>
            <a:r>
              <a:rPr lang="en-US" sz="1600" dirty="0"/>
              <a:t> of </a:t>
            </a:r>
            <a:r>
              <a:rPr lang="en-US" sz="1600" b="1" dirty="0"/>
              <a:t>1.071</a:t>
            </a:r>
            <a:r>
              <a:rPr lang="en-US" sz="1600" dirty="0"/>
              <a:t> shows a positive relationship between the events.</a:t>
            </a:r>
          </a:p>
        </p:txBody>
      </p:sp>
    </p:spTree>
    <p:extLst>
      <p:ext uri="{BB962C8B-B14F-4D97-AF65-F5344CB8AC3E}">
        <p14:creationId xmlns:p14="http://schemas.microsoft.com/office/powerpoint/2010/main" val="2415915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3380D-6B81-9978-2551-A8EAC627F3CD}"/>
              </a:ext>
            </a:extLst>
          </p:cNvPr>
          <p:cNvSpPr>
            <a:spLocks noGrp="1"/>
          </p:cNvSpPr>
          <p:nvPr>
            <p:ph type="title"/>
          </p:nvPr>
        </p:nvSpPr>
        <p:spPr/>
        <p:txBody>
          <a:bodyPr/>
          <a:lstStyle/>
          <a:p>
            <a:r>
              <a:rPr lang="es-CR" dirty="0" err="1"/>
              <a:t>Lessons</a:t>
            </a:r>
            <a:r>
              <a:rPr lang="es-CR" dirty="0"/>
              <a:t> </a:t>
            </a:r>
            <a:r>
              <a:rPr lang="es-CR" dirty="0" err="1"/>
              <a:t>Learned</a:t>
            </a:r>
            <a:endParaRPr lang="en-US" dirty="0"/>
          </a:p>
        </p:txBody>
      </p:sp>
      <p:sp>
        <p:nvSpPr>
          <p:cNvPr id="3" name="Content Placeholder 2">
            <a:extLst>
              <a:ext uri="{FF2B5EF4-FFF2-40B4-BE49-F238E27FC236}">
                <a16:creationId xmlns:a16="http://schemas.microsoft.com/office/drawing/2014/main" id="{E0E39223-203A-8EFF-4165-FB5CD2A225DD}"/>
              </a:ext>
            </a:extLst>
          </p:cNvPr>
          <p:cNvSpPr>
            <a:spLocks noGrp="1"/>
          </p:cNvSpPr>
          <p:nvPr>
            <p:ph idx="1"/>
          </p:nvPr>
        </p:nvSpPr>
        <p:spPr/>
        <p:txBody>
          <a:bodyPr>
            <a:normAutofit/>
          </a:bodyPr>
          <a:lstStyle/>
          <a:p>
            <a:pPr fontAlgn="ctr"/>
            <a:r>
              <a:rPr lang="en-US" dirty="0"/>
              <a:t>Use of SCD for historical tables, such as </a:t>
            </a:r>
            <a:r>
              <a:rPr lang="en-US" i="1" dirty="0"/>
              <a:t>Orders</a:t>
            </a:r>
            <a:r>
              <a:rPr lang="en-US" dirty="0"/>
              <a:t>.</a:t>
            </a:r>
          </a:p>
          <a:p>
            <a:pPr fontAlgn="ctr"/>
            <a:r>
              <a:rPr lang="en-US" dirty="0"/>
              <a:t>In the FACT table, analyze whether any null values were present.</a:t>
            </a:r>
          </a:p>
          <a:p>
            <a:pPr fontAlgn="ctr"/>
            <a:r>
              <a:rPr lang="en-US" dirty="0"/>
              <a:t>Check for repeated fields across tables that may create redundancy.</a:t>
            </a:r>
          </a:p>
          <a:p>
            <a:pPr fontAlgn="ctr"/>
            <a:r>
              <a:rPr lang="en-US" dirty="0"/>
              <a:t>In Tableau, consider including employee performance metrics.</a:t>
            </a:r>
          </a:p>
          <a:p>
            <a:pPr fontAlgn="ctr"/>
            <a:r>
              <a:rPr lang="en-US" dirty="0"/>
              <a:t>In R, improve the visualization of metrics and explore selecting additional columns from the dataset for the </a:t>
            </a:r>
            <a:r>
              <a:rPr lang="en-US" dirty="0" err="1"/>
              <a:t>Apriori</a:t>
            </a:r>
            <a:r>
              <a:rPr lang="en-US" dirty="0"/>
              <a:t> algorithm.</a:t>
            </a:r>
          </a:p>
          <a:p>
            <a:endParaRPr lang="en-US" dirty="0"/>
          </a:p>
        </p:txBody>
      </p:sp>
    </p:spTree>
    <p:extLst>
      <p:ext uri="{BB962C8B-B14F-4D97-AF65-F5344CB8AC3E}">
        <p14:creationId xmlns:p14="http://schemas.microsoft.com/office/powerpoint/2010/main" val="4097221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448A6-7F58-8C6F-AEAA-6E87A58DC98D}"/>
              </a:ext>
            </a:extLst>
          </p:cNvPr>
          <p:cNvSpPr>
            <a:spLocks noGrp="1"/>
          </p:cNvSpPr>
          <p:nvPr>
            <p:ph type="title"/>
          </p:nvPr>
        </p:nvSpPr>
        <p:spPr/>
        <p:txBody>
          <a:bodyPr/>
          <a:lstStyle/>
          <a:p>
            <a:r>
              <a:rPr lang="es-CR" dirty="0" err="1"/>
              <a:t>Conclusions</a:t>
            </a:r>
            <a:r>
              <a:rPr lang="es-CR" dirty="0"/>
              <a:t> </a:t>
            </a:r>
            <a:endParaRPr lang="en-US" dirty="0"/>
          </a:p>
        </p:txBody>
      </p:sp>
      <p:sp>
        <p:nvSpPr>
          <p:cNvPr id="3" name="Content Placeholder 2">
            <a:extLst>
              <a:ext uri="{FF2B5EF4-FFF2-40B4-BE49-F238E27FC236}">
                <a16:creationId xmlns:a16="http://schemas.microsoft.com/office/drawing/2014/main" id="{90375404-F8C0-9ED2-8BD7-AC965FCE4C3A}"/>
              </a:ext>
            </a:extLst>
          </p:cNvPr>
          <p:cNvSpPr>
            <a:spLocks noGrp="1"/>
          </p:cNvSpPr>
          <p:nvPr>
            <p:ph idx="1"/>
          </p:nvPr>
        </p:nvSpPr>
        <p:spPr/>
        <p:txBody>
          <a:bodyPr>
            <a:normAutofit fontScale="92500"/>
          </a:bodyPr>
          <a:lstStyle/>
          <a:p>
            <a:pPr algn="just"/>
            <a:r>
              <a:rPr lang="en-US" dirty="0"/>
              <a:t>Understanding the data types of each column is essential; having inconsistent data types can result in empty columns in the fact table.</a:t>
            </a:r>
          </a:p>
          <a:p>
            <a:pPr algn="just"/>
            <a:r>
              <a:rPr lang="en-US" dirty="0"/>
              <a:t>Proper key creation for the DW tables is necessary, and decimal fields must be correctly defined.</a:t>
            </a:r>
          </a:p>
          <a:p>
            <a:pPr algn="just"/>
            <a:r>
              <a:rPr lang="en-US" dirty="0"/>
              <a:t>Pay attention to repeated columns across DW tables, as they can create inefficiencies.</a:t>
            </a:r>
          </a:p>
          <a:p>
            <a:pPr algn="just"/>
            <a:r>
              <a:rPr lang="en-US" dirty="0"/>
              <a:t>Verify that the fact table contains the expected data.</a:t>
            </a:r>
          </a:p>
          <a:p>
            <a:pPr algn="just"/>
            <a:r>
              <a:rPr lang="en-US" dirty="0"/>
              <a:t>Use Tableau to evaluate potential data inconsistencies at the visualization level, as these issues may lead to rework in the ETL process.</a:t>
            </a:r>
          </a:p>
          <a:p>
            <a:pPr marL="0" indent="0">
              <a:buNone/>
            </a:pPr>
            <a:endParaRPr lang="en-US" dirty="0"/>
          </a:p>
        </p:txBody>
      </p:sp>
    </p:spTree>
    <p:extLst>
      <p:ext uri="{BB962C8B-B14F-4D97-AF65-F5344CB8AC3E}">
        <p14:creationId xmlns:p14="http://schemas.microsoft.com/office/powerpoint/2010/main" val="327819014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1987</TotalTime>
  <Words>1375</Words>
  <Application>Microsoft Office PowerPoint</Application>
  <PresentationFormat>Widescreen</PresentationFormat>
  <Paragraphs>165</Paragraphs>
  <Slides>15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Calibri</vt:lpstr>
      <vt:lpstr>Office Theme</vt:lpstr>
      <vt:lpstr>Proyecto Final Minería de Datos</vt:lpstr>
      <vt:lpstr>CRISP-DM, o Cross-Industry Standard Process for Data Mining </vt:lpstr>
      <vt:lpstr>Cycle</vt:lpstr>
      <vt:lpstr>Objective Sucess Criteria</vt:lpstr>
      <vt:lpstr>Extraction</vt:lpstr>
      <vt:lpstr>Load</vt:lpstr>
      <vt:lpstr>SCD</vt:lpstr>
      <vt:lpstr>PowerPoint Presentation</vt:lpstr>
      <vt:lpstr>Tableau</vt:lpstr>
      <vt:lpstr>PowerPoint Presentation</vt:lpstr>
      <vt:lpstr>A priori algorithm in R</vt:lpstr>
      <vt:lpstr>A priori algorithm in R </vt:lpstr>
      <vt:lpstr>Results</vt:lpstr>
      <vt:lpstr>Lessons Learned</vt:lpstr>
      <vt:lpstr>Conclusions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Estephanie Gomez</dc:creator>
  <cp:lastModifiedBy>Estephanie Gomez</cp:lastModifiedBy>
  <cp:revision>7</cp:revision>
  <dcterms:created xsi:type="dcterms:W3CDTF">2025-02-10T20:30:37Z</dcterms:created>
  <dcterms:modified xsi:type="dcterms:W3CDTF">2025-12-03T17:34:13Z</dcterms:modified>
</cp:coreProperties>
</file>